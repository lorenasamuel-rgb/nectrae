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b2fe303-a92f-763c-7012-c1d14a854cca}">
          <p14:sldIdLst>
            <p14:sldId id="256"/>
          </p14:sldIdLst>
        </p14:section>
        <p14:section name="Problem and market" id="{32e3689f-54cc-38bb-ba7f-df558022ae6c}">
          <p14:sldIdLst>
            <p14:sldId id="257"/>
            <p14:sldId id="258"/>
            <p14:sldId id="259"/>
          </p14:sldIdLst>
        </p14:section>
        <p14:section name="Product" id="{039df8e6-1609-b9c6-30f9-70d1cd58ef26}">
          <p14:sldIdLst>
            <p14:sldId id="260"/>
            <p14:sldId id="261"/>
            <p14:sldId id="262"/>
            <p14:sldId id="263"/>
          </p14:sldIdLst>
        </p14:section>
        <p14:section name="Business" id="{120e8fec-ad3a-6a93-b22e-20eadb37e428}">
          <p14:sldIdLst>
            <p14:sldId id="264"/>
          </p14:sldIdLst>
        </p14:section>
        <p14:section name="Team and next steps" id="{da43cf88-6995-f8e8-947e-cec6ac284485}">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Nectrae gives paid agent workflows clear financial boundaries: one budget per API, checked before the agent pays, and verified on-chain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AI agent buys data, every API call becomes a spending decision, and a loop can keep those calls going beyond the intended budget. Nectrae gives developers clear limits and visibility into where the money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LangChain found agents in production among 57.3 percent of respondents, while Visa and Artemis counted 109.6 million adjusted x402 transactions through April 21, 2026. Agents are already working, and software is already paying for services. Nectrae brings spending boundaries to those paid workflows. Gartner forecasts 985 billion dollars in agentic AI software spending by 2030.
Sources: Gartner, Forecast Analysis: Agentic AI Spending in Software Markets, 17 Feb 2026, gartner.com/en/documents/7455226; LangChain, State of Agent Engineering; Visa and Artemis, Agentic Payments from the Ground Up, data through 21 Apr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Gartner's forecast is the broad agentic AI software market. Our focus within that broader market is teams paying for APIs in USDC.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Nectrae brings Solana and Base activity into one budget per API. Within SDK-connected workflows, it checks the budget, per-call limit, and recipient before signing. Example from the demo: a daily budget of one USDC and a five-cent limit per call; a twenty-cent request and a request to a recipient that isn't allowed are both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SDK-connected workflows, Nectrae checks the budget, per-call limit, and recipient before signing, then verifies the payment against blockchain activity: amount, recipient, and status on the network. It also scans for recent wallet outflows that skipped the SDK. Those can be flagged afterward, but not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payer sees each API's activity, rules, and transaction evidence together. Our local MVP runs on Solana devnet and Base Sepolia with test USDC. The API names shown are examples, not real customers or purchases.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wallet signs outside Nectrae, and your funds and private keys stay with you. You set the boundaries, and your agent checks them before paying through the integration. Funds and private keys stay in your own 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route to customers combines developer communities, SDK examples on GitHub, and assisted integrations with paid API workflows. Team subscriptions form the basis of our commercial strategy for shared controls and spending records. This is a commercial strategy, not revenue already obtained.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each team member's name, role, and the background that makes them right for this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Nectrae gives paid agent workflows clear financial boundaries. Let your agents bee autonomous. Bee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X_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X_CONT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03504"/>
            <a:ext cx="8046720" cy="658368"/>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pic>
        <p:nvPicPr>
          <p:cNvPr id="4" name="Image 0" descr="/Users/lorenasamuel/Documents/Nectrae/Visual/Logo web/logo-nectrae-claro.png">    </p:cNvPr>
          <p:cNvPicPr>
            <a:picLocks noChangeAspect="1"/>
          </p:cNvPicPr>
          <p:nvPr/>
        </p:nvPicPr>
        <p:blipFill>
          <a:blip r:embed="rId1"/>
          <a:stretch>
            <a:fillRect/>
          </a:stretch>
        </p:blipFill>
        <p:spPr>
          <a:xfrm>
            <a:off x="548640" y="4681728"/>
            <a:ext cx="777240" cy="248717"/>
          </a:xfrm>
          <a:prstGeom prst="rect">
            <a:avLst/>
          </a:prstGeom>
        </p:spPr>
      </p:pic>
      <p:sp>
        <p:nvSpPr>
          <p:cNvPr id="25" name="Slide Number Placeholder 0"/>
          <p:cNvSpPr>
            <a:spLocks noGrp="1"/>
          </p:cNvSpPr>
          <p:nvPr>
            <p:ph type="sldNum" sz="quarter" idx="4294967295"/>
          </p:nvPr>
        </p:nvSpPr>
        <p:spPr>
          <a:xfrm>
            <a:off x="813816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Users/lorenasamuel/Documents/Nectrae/Visual/Logo web/logo-nectrae-claro.png">    </p:cNvPr>
          <p:cNvPicPr>
            <a:picLocks noChangeAspect="1"/>
          </p:cNvPicPr>
          <p:nvPr/>
        </p:nvPicPr>
        <p:blipFill>
          <a:blip r:embed="rId1"/>
          <a:stretch>
            <a:fillRect/>
          </a:stretch>
        </p:blipFill>
        <p:spPr>
          <a:xfrm>
            <a:off x="548640" y="1143000"/>
            <a:ext cx="4023360" cy="1287475"/>
          </a:xfrm>
          <a:prstGeom prst="rect">
            <a:avLst/>
          </a:prstGeom>
        </p:spPr>
      </p:pic>
      <p:sp>
        <p:nvSpPr>
          <p:cNvPr id="3" name="Product name"/>
          <p:cNvSpPr txBox="1"/>
          <p:nvPr/>
        </p:nvSpPr>
        <p:spPr>
          <a:xfrm>
            <a:off x="548640" y="2697480"/>
            <a:ext cx="4937760" cy="502920"/>
          </a:xfrm>
          <a:prstGeom prst="rect">
            <a:avLst/>
          </a:prstGeom>
          <a:noFill/>
          <a:ln/>
        </p:spPr>
        <p:txBody>
          <a:bodyPr wrap="square" lIns="0" tIns="0" rIns="0" bIns="0" rtlCol="0" anchor="t"/>
          <a:lstStyle/>
          <a:p>
            <a:pPr indent="0" marL="0">
              <a:buNone/>
            </a:pPr>
            <a:r>
              <a:rPr lang="en-US" sz="3000" b="1" dirty="0">
                <a:solidFill>
                  <a:schemeClr val="bg1"/>
                </a:solidFill>
                <a:latin typeface="+mj-lt" pitchFamily="34" charset="0"/>
                <a:ea typeface="+mj-lt" pitchFamily="34" charset="-122"/>
                <a:cs typeface="+mj-lt" pitchFamily="34" charset="-120"/>
              </a:rPr>
              <a:t>Agent Spend Control</a:t>
            </a:r>
            <a:endParaRPr lang="en-US" sz="3000" dirty="0"/>
          </a:p>
        </p:txBody>
      </p:sp>
      <p:sp>
        <p:nvSpPr>
          <p:cNvPr id="4" name="Subtitle"/>
          <p:cNvSpPr txBox="1"/>
          <p:nvPr/>
        </p:nvSpPr>
        <p:spPr>
          <a:xfrm>
            <a:off x="548640" y="3246120"/>
            <a:ext cx="4754880" cy="548640"/>
          </a:xfrm>
          <a:prstGeom prst="rect">
            <a:avLst/>
          </a:prstGeom>
          <a:noFill/>
          <a:ln/>
        </p:spPr>
        <p:txBody>
          <a:bodyPr wrap="square" lIns="0" tIns="0" rIns="0" bIns="0" rtlCol="0" anchor="t"/>
          <a:lstStyle/>
          <a:p>
            <a:pPr indent="0" marL="0">
              <a:buNone/>
            </a:pPr>
            <a:r>
              <a:rPr lang="en-US" sz="1600" dirty="0">
                <a:solidFill>
                  <a:schemeClr val="bg2"/>
                </a:solidFill>
              </a:rPr>
              <a:t>Clear spending limits for AI agents that pay for APIs in USDC</a:t>
            </a:r>
            <a:endParaRPr lang="en-US" sz="1600" dirty="0"/>
          </a:p>
        </p:txBody>
      </p:sp>
      <p:sp>
        <p:nvSpPr>
          <p:cNvPr id="5" name="Tagline"/>
          <p:cNvSpPr txBox="1"/>
          <p:nvPr/>
        </p:nvSpPr>
        <p:spPr>
          <a:xfrm>
            <a:off x="548640" y="4023360"/>
            <a:ext cx="4937760" cy="365760"/>
          </a:xfrm>
          <a:prstGeom prst="rect">
            <a:avLst/>
          </a:prstGeom>
          <a:noFill/>
          <a:ln/>
        </p:spPr>
        <p:txBody>
          <a:bodyPr wrap="square" lIns="0" tIns="0" rIns="0" bIns="0" rtlCol="0" anchor="t"/>
          <a:lstStyle/>
          <a:p>
            <a:pPr indent="0" marL="0">
              <a:buNone/>
            </a:pPr>
            <a:r>
              <a:rPr lang="en-US" sz="1600" i="1" dirty="0">
                <a:solidFill>
                  <a:schemeClr val="accent1"/>
                </a:solidFill>
              </a:rPr>
              <a:t>Let your agents bee autonomous. Bee in control.</a:t>
            </a:r>
            <a:endParaRPr lang="en-US" sz="1600" dirty="0"/>
          </a:p>
        </p:txBody>
      </p:sp>
      <p:sp>
        <p:nvSpPr>
          <p:cNvPr id="6" name="Honeycomb 1"/>
          <p:cNvSpPr/>
          <p:nvPr/>
        </p:nvSpPr>
        <p:spPr>
          <a:xfrm>
            <a:off x="5728716" y="1709187"/>
            <a:ext cx="1069848" cy="926488"/>
          </a:xfrm>
          <a:prstGeom prst="hexagon">
            <a:avLst/>
          </a:prstGeom>
          <a:solidFill>
            <a:schemeClr val="tx2"/>
          </a:solidFill>
          <a:ln w="12700">
            <a:solidFill>
              <a:schemeClr val="accent5"/>
            </a:solidFill>
            <a:prstDash val="solid"/>
          </a:ln>
        </p:spPr>
      </p:sp>
      <p:sp>
        <p:nvSpPr>
          <p:cNvPr id="7" name="Honeycomb 2"/>
          <p:cNvSpPr/>
          <p:nvPr/>
        </p:nvSpPr>
        <p:spPr>
          <a:xfrm>
            <a:off x="6620256" y="1194472"/>
            <a:ext cx="1069848" cy="926488"/>
          </a:xfrm>
          <a:prstGeom prst="hexagon">
            <a:avLst/>
          </a:prstGeom>
          <a:solidFill>
            <a:schemeClr val="accent6"/>
          </a:solidFill>
          <a:ln w="12700">
            <a:solidFill>
              <a:schemeClr val="accent1"/>
            </a:solidFill>
            <a:prstDash val="solid"/>
          </a:ln>
        </p:spPr>
      </p:sp>
      <p:sp>
        <p:nvSpPr>
          <p:cNvPr id="8" name="Honeycomb 3"/>
          <p:cNvSpPr/>
          <p:nvPr/>
        </p:nvSpPr>
        <p:spPr>
          <a:xfrm>
            <a:off x="6620256" y="2223903"/>
            <a:ext cx="1069848" cy="926488"/>
          </a:xfrm>
          <a:prstGeom prst="hexagon">
            <a:avLst/>
          </a:prstGeom>
          <a:solidFill>
            <a:schemeClr val="accent1"/>
          </a:solidFill>
          <a:ln/>
        </p:spPr>
      </p:sp>
      <p:sp>
        <p:nvSpPr>
          <p:cNvPr id="9" name="Honeycomb 4"/>
          <p:cNvSpPr/>
          <p:nvPr/>
        </p:nvSpPr>
        <p:spPr>
          <a:xfrm>
            <a:off x="7511796" y="1709187"/>
            <a:ext cx="1069848" cy="926488"/>
          </a:xfrm>
          <a:prstGeom prst="hexagon">
            <a:avLst/>
          </a:prstGeom>
          <a:solidFill>
            <a:schemeClr val="tx2"/>
          </a:solidFill>
          <a:ln w="12700">
            <a:solidFill>
              <a:schemeClr val="accent5"/>
            </a:solidFill>
            <a:prstDash val="solid"/>
          </a:ln>
        </p:spPr>
      </p:sp>
      <p:sp>
        <p:nvSpPr>
          <p:cNvPr id="10" name="Honeycomb 5"/>
          <p:cNvSpPr/>
          <p:nvPr/>
        </p:nvSpPr>
        <p:spPr>
          <a:xfrm>
            <a:off x="7511796" y="2738619"/>
            <a:ext cx="1069848" cy="926488"/>
          </a:xfrm>
          <a:prstGeom prst="hexagon">
            <a:avLst/>
          </a:prstGeom>
          <a:solidFill>
            <a:schemeClr val="accent6"/>
          </a:solidFill>
          <a:ln w="12700">
            <a:solidFill>
              <a:schemeClr val="accent1"/>
            </a:solidFill>
            <a:prstDash val="solid"/>
          </a:ln>
        </p:spPr>
      </p:sp>
      <p:sp>
        <p:nvSpPr>
          <p:cNvPr id="11" name="Honeycomb 6"/>
          <p:cNvSpPr/>
          <p:nvPr/>
        </p:nvSpPr>
        <p:spPr>
          <a:xfrm>
            <a:off x="5728716" y="2738619"/>
            <a:ext cx="1069848" cy="926488"/>
          </a:xfrm>
          <a:prstGeom prst="hexagon">
            <a:avLst/>
          </a:prstGeom>
          <a:solidFill>
            <a:schemeClr val="accent6"/>
          </a:solidFill>
          <a:ln w="12700">
            <a:solidFill>
              <a:schemeClr val="accent1"/>
            </a:solidFill>
            <a:prstDash val="solid"/>
          </a:ln>
        </p:spPr>
      </p:sp>
      <p:sp>
        <p:nvSpPr>
          <p:cNvPr id="12" name="Honeycomb 7"/>
          <p:cNvSpPr/>
          <p:nvPr/>
        </p:nvSpPr>
        <p:spPr>
          <a:xfrm>
            <a:off x="6620256" y="3253335"/>
            <a:ext cx="1069848" cy="926488"/>
          </a:xfrm>
          <a:prstGeom prst="hexagon">
            <a:avLst/>
          </a:prstGeom>
          <a:solidFill>
            <a:schemeClr val="tx2"/>
          </a:solidFill>
          <a:ln w="12700">
            <a:solidFill>
              <a:schemeClr val="accent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THE PROBLEM</a:t>
            </a:r>
            <a:endParaRPr lang="en-US" sz="1100" dirty="0"/>
          </a:p>
        </p:txBody>
      </p:sp>
      <p:sp>
        <p:nvSpPr>
          <p:cNvPr id="3" name="Text 0"/>
          <p:cNvSpPr/>
          <p:nvPr>
            <p:ph idx="101" type="title" hasCustomPrompt="1"/>
          </p:nvPr>
        </p:nvSpPr>
        <p:spPr>
          <a:xfrm>
            <a:off x="548640" y="603504"/>
            <a:ext cx="8046720" cy="658368"/>
          </a:xfrm>
          <a:prstGeom prst="rect">
            <a:avLst/>
          </a:prstGeom>
          <a:noFill/>
          <a:ln/>
        </p:spPr>
        <p:txBody>
          <a:bodyPr wrap="square" lIns="0" tIns="0" rIns="0" bIns="0" rtlCol="0" anchor="t"/>
          <a:lstStyle/>
          <a:p>
            <a:pPr algn="l" indent="0" marL="0">
              <a:buNone/>
            </a:pPr>
            <a:r>
              <a:rPr lang="en-US" sz="3200" b="1" dirty="0">
                <a:solidFill>
                  <a:schemeClr val="bg1"/>
                </a:solidFill>
              </a:rPr>
              <a:t>Every API call is a spending decision</a:t>
            </a:r>
            <a:endParaRPr lang="en-US" sz="3200" dirty="0"/>
          </a:p>
        </p:txBody>
      </p:sp>
      <p:sp>
        <p:nvSpPr>
          <p:cNvPr id="4" name="Problem 1"/>
          <p:cNvSpPr/>
          <p:nvPr/>
        </p:nvSpPr>
        <p:spPr>
          <a:xfrm>
            <a:off x="548640" y="1554480"/>
            <a:ext cx="512064" cy="443447"/>
          </a:xfrm>
          <a:prstGeom prst="hexagon">
            <a:avLst/>
          </a:prstGeom>
          <a:solidFill>
            <a:schemeClr val="accent1"/>
          </a:solidFill>
          <a:ln/>
        </p:spPr>
      </p:sp>
      <p:pic>
        <p:nvPicPr>
          <p:cNvPr id="5" name="Problem 1 icon" descr="preencoded.png">    </p:cNvPr>
          <p:cNvPicPr>
            <a:picLocks noChangeAspect="1"/>
          </p:cNvPicPr>
          <p:nvPr/>
        </p:nvPicPr>
        <p:blipFill>
          <a:blip r:embed="rId1"/>
          <a:stretch>
            <a:fillRect/>
          </a:stretch>
        </p:blipFill>
        <p:spPr>
          <a:xfrm>
            <a:off x="697139" y="1668670"/>
            <a:ext cx="215067" cy="215067"/>
          </a:xfrm>
          <a:prstGeom prst="rect">
            <a:avLst/>
          </a:prstGeom>
        </p:spPr>
      </p:pic>
      <p:sp>
        <p:nvSpPr>
          <p:cNvPr id="6" name="Problem 1 title"/>
          <p:cNvSpPr txBox="1"/>
          <p:nvPr/>
        </p:nvSpPr>
        <p:spPr>
          <a:xfrm>
            <a:off x="1261872" y="1536192"/>
            <a:ext cx="3310128" cy="274320"/>
          </a:xfrm>
          <a:prstGeom prst="rect">
            <a:avLst/>
          </a:prstGeom>
          <a:noFill/>
          <a:ln/>
        </p:spPr>
        <p:txBody>
          <a:bodyPr wrap="square" lIns="0" tIns="0" rIns="0" bIns="0" rtlCol="0" anchor="t"/>
          <a:lstStyle/>
          <a:p>
            <a:pPr indent="0" marL="0">
              <a:buNone/>
            </a:pPr>
            <a:r>
              <a:rPr lang="en-US" sz="1600" b="1" dirty="0">
                <a:solidFill>
                  <a:schemeClr val="bg1"/>
                </a:solidFill>
              </a:rPr>
              <a:t>Agents buy data</a:t>
            </a:r>
            <a:endParaRPr lang="en-US" sz="1600" dirty="0"/>
          </a:p>
        </p:txBody>
      </p:sp>
      <p:sp>
        <p:nvSpPr>
          <p:cNvPr id="7" name="Problem 1 body"/>
          <p:cNvSpPr txBox="1"/>
          <p:nvPr/>
        </p:nvSpPr>
        <p:spPr>
          <a:xfrm>
            <a:off x="1261872" y="1828800"/>
            <a:ext cx="3310128" cy="457200"/>
          </a:xfrm>
          <a:prstGeom prst="rect">
            <a:avLst/>
          </a:prstGeom>
          <a:noFill/>
          <a:ln/>
        </p:spPr>
        <p:txBody>
          <a:bodyPr wrap="square" lIns="0" tIns="0" rIns="0" bIns="0" rtlCol="0" anchor="t"/>
          <a:lstStyle/>
          <a:p>
            <a:pPr indent="0" marL="0">
              <a:buNone/>
            </a:pPr>
            <a:r>
              <a:rPr lang="en-US" sz="1400" dirty="0">
                <a:solidFill>
                  <a:schemeClr val="bg2"/>
                </a:solidFill>
              </a:rPr>
              <a:t>When an AI agent pays for APIs, every call spends money.</a:t>
            </a:r>
            <a:endParaRPr lang="en-US" sz="1400" dirty="0"/>
          </a:p>
        </p:txBody>
      </p:sp>
      <p:sp>
        <p:nvSpPr>
          <p:cNvPr id="8" name="Problem 2"/>
          <p:cNvSpPr/>
          <p:nvPr/>
        </p:nvSpPr>
        <p:spPr>
          <a:xfrm>
            <a:off x="548640" y="2514600"/>
            <a:ext cx="512064" cy="443447"/>
          </a:xfrm>
          <a:prstGeom prst="hexagon">
            <a:avLst/>
          </a:prstGeom>
          <a:solidFill>
            <a:schemeClr val="accent1"/>
          </a:solidFill>
          <a:ln/>
        </p:spPr>
      </p:sp>
      <p:pic>
        <p:nvPicPr>
          <p:cNvPr id="9" name="Problem 2 icon" descr="preencoded.png">    </p:cNvPr>
          <p:cNvPicPr>
            <a:picLocks noChangeAspect="1"/>
          </p:cNvPicPr>
          <p:nvPr/>
        </p:nvPicPr>
        <p:blipFill>
          <a:blip r:embed="rId2"/>
          <a:stretch>
            <a:fillRect/>
          </a:stretch>
        </p:blipFill>
        <p:spPr>
          <a:xfrm>
            <a:off x="697139" y="2628790"/>
            <a:ext cx="215067" cy="215067"/>
          </a:xfrm>
          <a:prstGeom prst="rect">
            <a:avLst/>
          </a:prstGeom>
        </p:spPr>
      </p:pic>
      <p:sp>
        <p:nvSpPr>
          <p:cNvPr id="10" name="Problem 2 title"/>
          <p:cNvSpPr txBox="1"/>
          <p:nvPr/>
        </p:nvSpPr>
        <p:spPr>
          <a:xfrm>
            <a:off x="1261872" y="2496312"/>
            <a:ext cx="3310128" cy="274320"/>
          </a:xfrm>
          <a:prstGeom prst="rect">
            <a:avLst/>
          </a:prstGeom>
          <a:noFill/>
          <a:ln/>
        </p:spPr>
        <p:txBody>
          <a:bodyPr wrap="square" lIns="0" tIns="0" rIns="0" bIns="0" rtlCol="0" anchor="t"/>
          <a:lstStyle/>
          <a:p>
            <a:pPr indent="0" marL="0">
              <a:buNone/>
            </a:pPr>
            <a:r>
              <a:rPr lang="en-US" sz="1600" b="1" dirty="0">
                <a:solidFill>
                  <a:schemeClr val="bg1"/>
                </a:solidFill>
              </a:rPr>
              <a:t>Loops keep spending</a:t>
            </a:r>
            <a:endParaRPr lang="en-US" sz="1600" dirty="0"/>
          </a:p>
        </p:txBody>
      </p:sp>
      <p:sp>
        <p:nvSpPr>
          <p:cNvPr id="11" name="Problem 2 body"/>
          <p:cNvSpPr txBox="1"/>
          <p:nvPr/>
        </p:nvSpPr>
        <p:spPr>
          <a:xfrm>
            <a:off x="1261872" y="2788920"/>
            <a:ext cx="3310128" cy="457200"/>
          </a:xfrm>
          <a:prstGeom prst="rect">
            <a:avLst/>
          </a:prstGeom>
          <a:noFill/>
          <a:ln/>
        </p:spPr>
        <p:txBody>
          <a:bodyPr wrap="square" lIns="0" tIns="0" rIns="0" bIns="0" rtlCol="0" anchor="t"/>
          <a:lstStyle/>
          <a:p>
            <a:pPr indent="0" marL="0">
              <a:buNone/>
            </a:pPr>
            <a:r>
              <a:rPr lang="en-US" sz="1400" dirty="0">
                <a:solidFill>
                  <a:schemeClr val="bg2"/>
                </a:solidFill>
              </a:rPr>
              <a:t>A stuck loop can keep calls going past the intended budget.</a:t>
            </a:r>
            <a:endParaRPr lang="en-US" sz="1400" dirty="0"/>
          </a:p>
        </p:txBody>
      </p:sp>
      <p:sp>
        <p:nvSpPr>
          <p:cNvPr id="12" name="Problem 3"/>
          <p:cNvSpPr/>
          <p:nvPr/>
        </p:nvSpPr>
        <p:spPr>
          <a:xfrm>
            <a:off x="548640" y="3474720"/>
            <a:ext cx="512064" cy="443447"/>
          </a:xfrm>
          <a:prstGeom prst="hexagon">
            <a:avLst/>
          </a:prstGeom>
          <a:solidFill>
            <a:schemeClr val="accent1"/>
          </a:solidFill>
          <a:ln/>
        </p:spPr>
      </p:sp>
      <p:pic>
        <p:nvPicPr>
          <p:cNvPr id="13" name="Problem 3 icon" descr="preencoded.png">    </p:cNvPr>
          <p:cNvPicPr>
            <a:picLocks noChangeAspect="1"/>
          </p:cNvPicPr>
          <p:nvPr/>
        </p:nvPicPr>
        <p:blipFill>
          <a:blip r:embed="rId3"/>
          <a:stretch>
            <a:fillRect/>
          </a:stretch>
        </p:blipFill>
        <p:spPr>
          <a:xfrm>
            <a:off x="697139" y="3588910"/>
            <a:ext cx="215067" cy="215067"/>
          </a:xfrm>
          <a:prstGeom prst="rect">
            <a:avLst/>
          </a:prstGeom>
        </p:spPr>
      </p:pic>
      <p:sp>
        <p:nvSpPr>
          <p:cNvPr id="14" name="Problem 3 title"/>
          <p:cNvSpPr txBox="1"/>
          <p:nvPr/>
        </p:nvSpPr>
        <p:spPr>
          <a:xfrm>
            <a:off x="1261872" y="3456432"/>
            <a:ext cx="3310128" cy="274320"/>
          </a:xfrm>
          <a:prstGeom prst="rect">
            <a:avLst/>
          </a:prstGeom>
          <a:noFill/>
          <a:ln/>
        </p:spPr>
        <p:txBody>
          <a:bodyPr wrap="square" lIns="0" tIns="0" rIns="0" bIns="0" rtlCol="0" anchor="t"/>
          <a:lstStyle/>
          <a:p>
            <a:pPr indent="0" marL="0">
              <a:buNone/>
            </a:pPr>
            <a:r>
              <a:rPr lang="en-US" sz="1600" b="1" dirty="0">
                <a:solidFill>
                  <a:schemeClr val="bg1"/>
                </a:solidFill>
              </a:rPr>
              <a:t>No clear view</a:t>
            </a:r>
            <a:endParaRPr lang="en-US" sz="1600" dirty="0"/>
          </a:p>
        </p:txBody>
      </p:sp>
      <p:sp>
        <p:nvSpPr>
          <p:cNvPr id="15" name="Problem 3 body"/>
          <p:cNvSpPr txBox="1"/>
          <p:nvPr/>
        </p:nvSpPr>
        <p:spPr>
          <a:xfrm>
            <a:off x="1261872" y="3749040"/>
            <a:ext cx="3310128" cy="457200"/>
          </a:xfrm>
          <a:prstGeom prst="rect">
            <a:avLst/>
          </a:prstGeom>
          <a:noFill/>
          <a:ln/>
        </p:spPr>
        <p:txBody>
          <a:bodyPr wrap="square" lIns="0" tIns="0" rIns="0" bIns="0" rtlCol="0" anchor="t"/>
          <a:lstStyle/>
          <a:p>
            <a:pPr indent="0" marL="0">
              <a:buNone/>
            </a:pPr>
            <a:r>
              <a:rPr lang="en-US" sz="1400" dirty="0">
                <a:solidFill>
                  <a:schemeClr val="bg2"/>
                </a:solidFill>
              </a:rPr>
              <a:t>Developers need limits and visibility into where the money goes.</a:t>
            </a:r>
            <a:endParaRPr lang="en-US" sz="1400" dirty="0"/>
          </a:p>
        </p:txBody>
      </p:sp>
      <p:sp>
        <p:nvSpPr>
          <p:cNvPr id="16" name="Loop ledger card"/>
          <p:cNvSpPr/>
          <p:nvPr/>
        </p:nvSpPr>
        <p:spPr>
          <a:xfrm>
            <a:off x="4937760" y="1463040"/>
            <a:ext cx="3657600" cy="3017520"/>
          </a:xfrm>
          <a:prstGeom prst="roundRect">
            <a:avLst>
              <a:gd name="adj" fmla="val 2424"/>
            </a:avLst>
          </a:prstGeom>
          <a:solidFill>
            <a:schemeClr val="tx2"/>
          </a:solidFill>
          <a:ln w="9525">
            <a:solidFill>
              <a:schemeClr val="accent5"/>
            </a:solidFill>
            <a:prstDash val="solid"/>
          </a:ln>
        </p:spPr>
      </p:sp>
      <p:sp>
        <p:nvSpPr>
          <p:cNvPr id="17" name="Ledger caption"/>
          <p:cNvSpPr txBox="1"/>
          <p:nvPr/>
        </p:nvSpPr>
        <p:spPr>
          <a:xfrm>
            <a:off x="5166360" y="1627632"/>
            <a:ext cx="3200400" cy="274320"/>
          </a:xfrm>
          <a:prstGeom prst="rect">
            <a:avLst/>
          </a:prstGeom>
          <a:noFill/>
          <a:ln/>
        </p:spPr>
        <p:txBody>
          <a:bodyPr wrap="square" lIns="0" tIns="0" rIns="0" bIns="0" rtlCol="0" anchor="t"/>
          <a:lstStyle/>
          <a:p>
            <a:pPr indent="0" marL="0">
              <a:buNone/>
            </a:pPr>
            <a:r>
              <a:rPr lang="en-US" sz="1200" dirty="0">
                <a:solidFill>
                  <a:schemeClr val="bg2"/>
                </a:solidFill>
              </a:rPr>
              <a:t>Agent stuck in a loop, no limits</a:t>
            </a:r>
            <a:endParaRPr lang="en-US" sz="1200" dirty="0"/>
          </a:p>
        </p:txBody>
      </p:sp>
      <p:sp>
        <p:nvSpPr>
          <p:cNvPr id="18" name="Ledger budget"/>
          <p:cNvSpPr txBox="1"/>
          <p:nvPr/>
        </p:nvSpPr>
        <p:spPr>
          <a:xfrm>
            <a:off x="5166360" y="1901952"/>
            <a:ext cx="3200400" cy="320040"/>
          </a:xfrm>
          <a:prstGeom prst="rect">
            <a:avLst/>
          </a:prstGeom>
          <a:noFill/>
          <a:ln/>
        </p:spPr>
        <p:txBody>
          <a:bodyPr wrap="square" lIns="0" tIns="0" rIns="0" bIns="0" rtlCol="0" anchor="t"/>
          <a:lstStyle/>
          <a:p>
            <a:pPr indent="0" marL="0">
              <a:buNone/>
            </a:pPr>
            <a:r>
              <a:rPr lang="en-US" sz="1600" b="1" dirty="0">
                <a:solidFill>
                  <a:schemeClr val="accent1"/>
                </a:solidFill>
              </a:rPr>
              <a:t>Daily budget: 1.00 USDC</a:t>
            </a:r>
            <a:endParaRPr lang="en-US" sz="1600" dirty="0"/>
          </a:p>
        </p:txBody>
      </p:sp>
      <p:sp>
        <p:nvSpPr>
          <p:cNvPr id="19" name="Ledger row 1"/>
          <p:cNvSpPr txBox="1"/>
          <p:nvPr/>
        </p:nvSpPr>
        <p:spPr>
          <a:xfrm>
            <a:off x="5166360" y="2377440"/>
            <a:ext cx="1097280" cy="274320"/>
          </a:xfrm>
          <a:prstGeom prst="rect">
            <a:avLst/>
          </a:prstGeom>
          <a:noFill/>
          <a:ln/>
        </p:spPr>
        <p:txBody>
          <a:bodyPr wrap="square" lIns="0" tIns="0" rIns="0" bIns="0" rtlCol="0" anchor="t"/>
          <a:lstStyle/>
          <a:p>
            <a:pPr indent="0" marL="0">
              <a:buNone/>
            </a:pPr>
            <a:r>
              <a:rPr lang="en-US" sz="1400" dirty="0">
                <a:solidFill>
                  <a:schemeClr val="bg1"/>
                </a:solidFill>
              </a:rPr>
              <a:t>Call #98</a:t>
            </a:r>
            <a:endParaRPr lang="en-US" sz="1400" dirty="0"/>
          </a:p>
        </p:txBody>
      </p:sp>
      <p:sp>
        <p:nvSpPr>
          <p:cNvPr id="20" name="Ledger amount 1"/>
          <p:cNvSpPr txBox="1"/>
          <p:nvPr/>
        </p:nvSpPr>
        <p:spPr>
          <a:xfrm>
            <a:off x="6263640" y="2377440"/>
            <a:ext cx="731520" cy="274320"/>
          </a:xfrm>
          <a:prstGeom prst="rect">
            <a:avLst/>
          </a:prstGeom>
          <a:noFill/>
          <a:ln/>
        </p:spPr>
        <p:txBody>
          <a:bodyPr wrap="square" lIns="0" tIns="0" rIns="0" bIns="0" rtlCol="0" anchor="t"/>
          <a:lstStyle/>
          <a:p>
            <a:pPr indent="0" marL="0">
              <a:buNone/>
            </a:pPr>
            <a:r>
              <a:rPr lang="en-US" sz="1400" dirty="0">
                <a:solidFill>
                  <a:schemeClr val="bg2"/>
                </a:solidFill>
              </a:rPr>
              <a:t>+0.01</a:t>
            </a:r>
            <a:endParaRPr lang="en-US" sz="1400" dirty="0"/>
          </a:p>
        </p:txBody>
      </p:sp>
      <p:sp>
        <p:nvSpPr>
          <p:cNvPr id="21" name="Ledger total 1"/>
          <p:cNvSpPr txBox="1"/>
          <p:nvPr/>
        </p:nvSpPr>
        <p:spPr>
          <a:xfrm>
            <a:off x="7086600" y="2377440"/>
            <a:ext cx="1280160" cy="274320"/>
          </a:xfrm>
          <a:prstGeom prst="rect">
            <a:avLst/>
          </a:prstGeom>
          <a:noFill/>
          <a:ln/>
        </p:spPr>
        <p:txBody>
          <a:bodyPr wrap="square" lIns="0" tIns="0" rIns="0" bIns="0" rtlCol="0" anchor="t"/>
          <a:lstStyle/>
          <a:p>
            <a:pPr algn="r" indent="0" marL="0">
              <a:buNone/>
            </a:pPr>
            <a:r>
              <a:rPr lang="en-US" sz="1400" dirty="0">
                <a:solidFill>
                  <a:schemeClr val="bg1"/>
                </a:solidFill>
              </a:rPr>
              <a:t>total 0.98</a:t>
            </a:r>
            <a:endParaRPr lang="en-US" sz="1400" dirty="0"/>
          </a:p>
        </p:txBody>
      </p:sp>
      <p:sp>
        <p:nvSpPr>
          <p:cNvPr id="22" name="Ledger row 2"/>
          <p:cNvSpPr txBox="1"/>
          <p:nvPr/>
        </p:nvSpPr>
        <p:spPr>
          <a:xfrm>
            <a:off x="5166360" y="2770632"/>
            <a:ext cx="1097280" cy="274320"/>
          </a:xfrm>
          <a:prstGeom prst="rect">
            <a:avLst/>
          </a:prstGeom>
          <a:noFill/>
          <a:ln/>
        </p:spPr>
        <p:txBody>
          <a:bodyPr wrap="square" lIns="0" tIns="0" rIns="0" bIns="0" rtlCol="0" anchor="t"/>
          <a:lstStyle/>
          <a:p>
            <a:pPr indent="0" marL="0">
              <a:buNone/>
            </a:pPr>
            <a:r>
              <a:rPr lang="en-US" sz="1400" dirty="0">
                <a:solidFill>
                  <a:schemeClr val="bg1"/>
                </a:solidFill>
              </a:rPr>
              <a:t>Call #99</a:t>
            </a:r>
            <a:endParaRPr lang="en-US" sz="1400" dirty="0"/>
          </a:p>
        </p:txBody>
      </p:sp>
      <p:sp>
        <p:nvSpPr>
          <p:cNvPr id="23" name="Ledger amount 2"/>
          <p:cNvSpPr txBox="1"/>
          <p:nvPr/>
        </p:nvSpPr>
        <p:spPr>
          <a:xfrm>
            <a:off x="6263640" y="2770632"/>
            <a:ext cx="731520" cy="274320"/>
          </a:xfrm>
          <a:prstGeom prst="rect">
            <a:avLst/>
          </a:prstGeom>
          <a:noFill/>
          <a:ln/>
        </p:spPr>
        <p:txBody>
          <a:bodyPr wrap="square" lIns="0" tIns="0" rIns="0" bIns="0" rtlCol="0" anchor="t"/>
          <a:lstStyle/>
          <a:p>
            <a:pPr indent="0" marL="0">
              <a:buNone/>
            </a:pPr>
            <a:r>
              <a:rPr lang="en-US" sz="1400" dirty="0">
                <a:solidFill>
                  <a:schemeClr val="bg2"/>
                </a:solidFill>
              </a:rPr>
              <a:t>+0.01</a:t>
            </a:r>
            <a:endParaRPr lang="en-US" sz="1400" dirty="0"/>
          </a:p>
        </p:txBody>
      </p:sp>
      <p:sp>
        <p:nvSpPr>
          <p:cNvPr id="24" name="Ledger total 2"/>
          <p:cNvSpPr txBox="1"/>
          <p:nvPr/>
        </p:nvSpPr>
        <p:spPr>
          <a:xfrm>
            <a:off x="7086600" y="2770632"/>
            <a:ext cx="1280160" cy="274320"/>
          </a:xfrm>
          <a:prstGeom prst="rect">
            <a:avLst/>
          </a:prstGeom>
          <a:noFill/>
          <a:ln/>
        </p:spPr>
        <p:txBody>
          <a:bodyPr wrap="square" lIns="0" tIns="0" rIns="0" bIns="0" rtlCol="0" anchor="t"/>
          <a:lstStyle/>
          <a:p>
            <a:pPr algn="r" indent="0" marL="0">
              <a:buNone/>
            </a:pPr>
            <a:r>
              <a:rPr lang="en-US" sz="1400" dirty="0">
                <a:solidFill>
                  <a:schemeClr val="bg1"/>
                </a:solidFill>
              </a:rPr>
              <a:t>total 0.99</a:t>
            </a:r>
            <a:endParaRPr lang="en-US" sz="1400" dirty="0"/>
          </a:p>
        </p:txBody>
      </p:sp>
      <p:sp>
        <p:nvSpPr>
          <p:cNvPr id="25" name="Ledger row 3"/>
          <p:cNvSpPr txBox="1"/>
          <p:nvPr/>
        </p:nvSpPr>
        <p:spPr>
          <a:xfrm>
            <a:off x="5166360" y="3163824"/>
            <a:ext cx="1097280" cy="274320"/>
          </a:xfrm>
          <a:prstGeom prst="rect">
            <a:avLst/>
          </a:prstGeom>
          <a:noFill/>
          <a:ln/>
        </p:spPr>
        <p:txBody>
          <a:bodyPr wrap="square" lIns="0" tIns="0" rIns="0" bIns="0" rtlCol="0" anchor="t"/>
          <a:lstStyle/>
          <a:p>
            <a:pPr indent="0" marL="0">
              <a:buNone/>
            </a:pPr>
            <a:r>
              <a:rPr lang="en-US" sz="1400" dirty="0">
                <a:solidFill>
                  <a:schemeClr val="bg1"/>
                </a:solidFill>
              </a:rPr>
              <a:t>Call #100</a:t>
            </a:r>
            <a:endParaRPr lang="en-US" sz="1400" dirty="0"/>
          </a:p>
        </p:txBody>
      </p:sp>
      <p:sp>
        <p:nvSpPr>
          <p:cNvPr id="26" name="Ledger amount 3"/>
          <p:cNvSpPr txBox="1"/>
          <p:nvPr/>
        </p:nvSpPr>
        <p:spPr>
          <a:xfrm>
            <a:off x="6263640" y="3163824"/>
            <a:ext cx="731520" cy="274320"/>
          </a:xfrm>
          <a:prstGeom prst="rect">
            <a:avLst/>
          </a:prstGeom>
          <a:noFill/>
          <a:ln/>
        </p:spPr>
        <p:txBody>
          <a:bodyPr wrap="square" lIns="0" tIns="0" rIns="0" bIns="0" rtlCol="0" anchor="t"/>
          <a:lstStyle/>
          <a:p>
            <a:pPr indent="0" marL="0">
              <a:buNone/>
            </a:pPr>
            <a:r>
              <a:rPr lang="en-US" sz="1400" dirty="0">
                <a:solidFill>
                  <a:schemeClr val="bg2"/>
                </a:solidFill>
              </a:rPr>
              <a:t>+0.01</a:t>
            </a:r>
            <a:endParaRPr lang="en-US" sz="1400" dirty="0"/>
          </a:p>
        </p:txBody>
      </p:sp>
      <p:sp>
        <p:nvSpPr>
          <p:cNvPr id="27" name="Ledger total 3"/>
          <p:cNvSpPr txBox="1"/>
          <p:nvPr/>
        </p:nvSpPr>
        <p:spPr>
          <a:xfrm>
            <a:off x="7086600" y="3163824"/>
            <a:ext cx="1280160" cy="274320"/>
          </a:xfrm>
          <a:prstGeom prst="rect">
            <a:avLst/>
          </a:prstGeom>
          <a:noFill/>
          <a:ln/>
        </p:spPr>
        <p:txBody>
          <a:bodyPr wrap="square" lIns="0" tIns="0" rIns="0" bIns="0" rtlCol="0" anchor="t"/>
          <a:lstStyle/>
          <a:p>
            <a:pPr algn="r" indent="0" marL="0">
              <a:buNone/>
            </a:pPr>
            <a:r>
              <a:rPr lang="en-US" sz="1400" dirty="0">
                <a:solidFill>
                  <a:schemeClr val="bg1"/>
                </a:solidFill>
              </a:rPr>
              <a:t>total 1.00</a:t>
            </a:r>
            <a:endParaRPr lang="en-US" sz="1400" dirty="0"/>
          </a:p>
        </p:txBody>
      </p:sp>
      <p:sp>
        <p:nvSpPr>
          <p:cNvPr id="28" name="Ledger row 4"/>
          <p:cNvSpPr txBox="1"/>
          <p:nvPr/>
        </p:nvSpPr>
        <p:spPr>
          <a:xfrm>
            <a:off x="5166360" y="3557016"/>
            <a:ext cx="1097280" cy="274320"/>
          </a:xfrm>
          <a:prstGeom prst="rect">
            <a:avLst/>
          </a:prstGeom>
          <a:noFill/>
          <a:ln/>
        </p:spPr>
        <p:txBody>
          <a:bodyPr wrap="square" lIns="0" tIns="0" rIns="0" bIns="0" rtlCol="0" anchor="t"/>
          <a:lstStyle/>
          <a:p>
            <a:pPr indent="0" marL="0">
              <a:buNone/>
            </a:pPr>
            <a:r>
              <a:rPr lang="en-US" sz="1400" dirty="0">
                <a:solidFill>
                  <a:schemeClr val="accent3"/>
                </a:solidFill>
              </a:rPr>
              <a:t>Call #101</a:t>
            </a:r>
            <a:endParaRPr lang="en-US" sz="1400" dirty="0"/>
          </a:p>
        </p:txBody>
      </p:sp>
      <p:sp>
        <p:nvSpPr>
          <p:cNvPr id="29" name="Ledger amount 4"/>
          <p:cNvSpPr txBox="1"/>
          <p:nvPr/>
        </p:nvSpPr>
        <p:spPr>
          <a:xfrm>
            <a:off x="6263640" y="3557016"/>
            <a:ext cx="731520" cy="274320"/>
          </a:xfrm>
          <a:prstGeom prst="rect">
            <a:avLst/>
          </a:prstGeom>
          <a:noFill/>
          <a:ln/>
        </p:spPr>
        <p:txBody>
          <a:bodyPr wrap="square" lIns="0" tIns="0" rIns="0" bIns="0" rtlCol="0" anchor="t"/>
          <a:lstStyle/>
          <a:p>
            <a:pPr indent="0" marL="0">
              <a:buNone/>
            </a:pPr>
            <a:r>
              <a:rPr lang="en-US" sz="1400" dirty="0">
                <a:solidFill>
                  <a:schemeClr val="bg2"/>
                </a:solidFill>
              </a:rPr>
              <a:t>+0.01</a:t>
            </a:r>
            <a:endParaRPr lang="en-US" sz="1400" dirty="0"/>
          </a:p>
        </p:txBody>
      </p:sp>
      <p:sp>
        <p:nvSpPr>
          <p:cNvPr id="30" name="Ledger total 4"/>
          <p:cNvSpPr txBox="1"/>
          <p:nvPr/>
        </p:nvSpPr>
        <p:spPr>
          <a:xfrm>
            <a:off x="7086600" y="3557016"/>
            <a:ext cx="1280160" cy="274320"/>
          </a:xfrm>
          <a:prstGeom prst="rect">
            <a:avLst/>
          </a:prstGeom>
          <a:noFill/>
          <a:ln/>
        </p:spPr>
        <p:txBody>
          <a:bodyPr wrap="square" lIns="0" tIns="0" rIns="0" bIns="0" rtlCol="0" anchor="t"/>
          <a:lstStyle/>
          <a:p>
            <a:pPr algn="r" indent="0" marL="0">
              <a:buNone/>
            </a:pPr>
            <a:r>
              <a:rPr lang="en-US" sz="1400" b="1" dirty="0">
                <a:solidFill>
                  <a:schemeClr val="accent3"/>
                </a:solidFill>
              </a:rPr>
              <a:t>total 1.01</a:t>
            </a:r>
            <a:endParaRPr lang="en-US" sz="1400" dirty="0"/>
          </a:p>
        </p:txBody>
      </p:sp>
      <p:sp>
        <p:nvSpPr>
          <p:cNvPr id="31" name="Ledger row 5"/>
          <p:cNvSpPr txBox="1"/>
          <p:nvPr/>
        </p:nvSpPr>
        <p:spPr>
          <a:xfrm>
            <a:off x="5166360" y="3950208"/>
            <a:ext cx="1097280" cy="274320"/>
          </a:xfrm>
          <a:prstGeom prst="rect">
            <a:avLst/>
          </a:prstGeom>
          <a:noFill/>
          <a:ln/>
        </p:spPr>
        <p:txBody>
          <a:bodyPr wrap="square" lIns="0" tIns="0" rIns="0" bIns="0" rtlCol="0" anchor="t"/>
          <a:lstStyle/>
          <a:p>
            <a:pPr indent="0" marL="0">
              <a:buNone/>
            </a:pPr>
            <a:r>
              <a:rPr lang="en-US" sz="1400" dirty="0">
                <a:solidFill>
                  <a:schemeClr val="accent3"/>
                </a:solidFill>
              </a:rPr>
              <a:t>Call #102</a:t>
            </a:r>
            <a:endParaRPr lang="en-US" sz="1400" dirty="0"/>
          </a:p>
        </p:txBody>
      </p:sp>
      <p:sp>
        <p:nvSpPr>
          <p:cNvPr id="32" name="Ledger amount 5"/>
          <p:cNvSpPr txBox="1"/>
          <p:nvPr/>
        </p:nvSpPr>
        <p:spPr>
          <a:xfrm>
            <a:off x="6263640" y="3950208"/>
            <a:ext cx="731520" cy="274320"/>
          </a:xfrm>
          <a:prstGeom prst="rect">
            <a:avLst/>
          </a:prstGeom>
          <a:noFill/>
          <a:ln/>
        </p:spPr>
        <p:txBody>
          <a:bodyPr wrap="square" lIns="0" tIns="0" rIns="0" bIns="0" rtlCol="0" anchor="t"/>
          <a:lstStyle/>
          <a:p>
            <a:pPr indent="0" marL="0">
              <a:buNone/>
            </a:pPr>
            <a:r>
              <a:rPr lang="en-US" sz="1400" dirty="0">
                <a:solidFill>
                  <a:schemeClr val="bg2"/>
                </a:solidFill>
              </a:rPr>
              <a:t>+0.01</a:t>
            </a:r>
            <a:endParaRPr lang="en-US" sz="1400" dirty="0"/>
          </a:p>
        </p:txBody>
      </p:sp>
      <p:sp>
        <p:nvSpPr>
          <p:cNvPr id="33" name="Ledger total 5"/>
          <p:cNvSpPr txBox="1"/>
          <p:nvPr/>
        </p:nvSpPr>
        <p:spPr>
          <a:xfrm>
            <a:off x="7086600" y="3950208"/>
            <a:ext cx="1280160" cy="274320"/>
          </a:xfrm>
          <a:prstGeom prst="rect">
            <a:avLst/>
          </a:prstGeom>
          <a:noFill/>
          <a:ln/>
        </p:spPr>
        <p:txBody>
          <a:bodyPr wrap="square" lIns="0" tIns="0" rIns="0" bIns="0" rtlCol="0" anchor="t"/>
          <a:lstStyle/>
          <a:p>
            <a:pPr algn="r" indent="0" marL="0">
              <a:buNone/>
            </a:pPr>
            <a:r>
              <a:rPr lang="en-US" sz="1400" b="1" dirty="0">
                <a:solidFill>
                  <a:schemeClr val="accent3"/>
                </a:solidFill>
              </a:rPr>
              <a:t>total 1.02</a:t>
            </a:r>
            <a:endParaRPr lang="en-US" sz="1400" dirty="0"/>
          </a:p>
        </p:txBody>
      </p:sp>
      <p:sp>
        <p:nvSpPr>
          <p:cNvPr id="25" name="Slide Number Placeholder 0"/>
          <p:cNvSpPr>
            <a:spLocks noGrp="1"/>
          </p:cNvSpPr>
          <p:nvPr>
            <p:ph type="sldNum" sz="quarter" idx="4294967295"/>
          </p:nvPr>
        </p:nvSpPr>
        <p:spPr>
          <a:xfrm>
            <a:off x="813816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WHY NOW</a:t>
            </a:r>
            <a:endParaRPr lang="en-US" sz="1100" dirty="0"/>
          </a:p>
        </p:txBody>
      </p:sp>
      <p:sp>
        <p:nvSpPr>
          <p:cNvPr id="3" name="Text 0"/>
          <p:cNvSpPr/>
          <p:nvPr>
            <p:ph idx="101" type="title" hasCustomPrompt="1"/>
          </p:nvPr>
        </p:nvSpPr>
        <p:spPr>
          <a:xfrm>
            <a:off x="548640" y="603504"/>
            <a:ext cx="8046720" cy="658368"/>
          </a:xfrm>
          <a:prstGeom prst="rect">
            <a:avLst/>
          </a:prstGeom>
          <a:noFill/>
          <a:ln/>
        </p:spPr>
        <p:txBody>
          <a:bodyPr wrap="square" lIns="0" tIns="0" rIns="0" bIns="0" rtlCol="0" anchor="t"/>
          <a:lstStyle/>
          <a:p>
            <a:pPr algn="l" indent="0" marL="0">
              <a:buNone/>
            </a:pPr>
            <a:r>
              <a:rPr lang="en-US" sz="3200" b="1" dirty="0">
                <a:solidFill>
                  <a:schemeClr val="bg1"/>
                </a:solidFill>
              </a:rPr>
              <a:t>Agents are already paying for services</a:t>
            </a:r>
            <a:endParaRPr lang="en-US" sz="3200" dirty="0"/>
          </a:p>
        </p:txBody>
      </p:sp>
      <p:sp>
        <p:nvSpPr>
          <p:cNvPr id="4" name="Stat card 1"/>
          <p:cNvSpPr/>
          <p:nvPr/>
        </p:nvSpPr>
        <p:spPr>
          <a:xfrm>
            <a:off x="548640" y="1463040"/>
            <a:ext cx="2560320" cy="2606040"/>
          </a:xfrm>
          <a:prstGeom prst="roundRect">
            <a:avLst>
              <a:gd name="adj" fmla="val 2857"/>
            </a:avLst>
          </a:prstGeom>
          <a:solidFill>
            <a:schemeClr val="tx2"/>
          </a:solidFill>
          <a:ln w="9525">
            <a:solidFill>
              <a:schemeClr val="accent5"/>
            </a:solidFill>
            <a:prstDash val="solid"/>
          </a:ln>
        </p:spPr>
      </p:sp>
      <p:sp>
        <p:nvSpPr>
          <p:cNvPr id="5" name="Stat marker 1"/>
          <p:cNvSpPr/>
          <p:nvPr/>
        </p:nvSpPr>
        <p:spPr>
          <a:xfrm>
            <a:off x="777240" y="1691640"/>
            <a:ext cx="329184" cy="285073"/>
          </a:xfrm>
          <a:prstGeom prst="hexagon">
            <a:avLst/>
          </a:prstGeom>
          <a:solidFill>
            <a:schemeClr val="accent1"/>
          </a:solidFill>
          <a:ln/>
        </p:spPr>
      </p:sp>
      <p:sp>
        <p:nvSpPr>
          <p:cNvPr id="6" name="Stat number 1"/>
          <p:cNvSpPr txBox="1"/>
          <p:nvPr/>
        </p:nvSpPr>
        <p:spPr>
          <a:xfrm>
            <a:off x="777240" y="2103120"/>
            <a:ext cx="2103120" cy="73152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57.3%</a:t>
            </a:r>
            <a:endParaRPr lang="en-US" sz="4000" dirty="0"/>
          </a:p>
        </p:txBody>
      </p:sp>
      <p:sp>
        <p:nvSpPr>
          <p:cNvPr id="7" name="Stat label 1"/>
          <p:cNvSpPr txBox="1"/>
          <p:nvPr/>
        </p:nvSpPr>
        <p:spPr>
          <a:xfrm>
            <a:off x="777240" y="2852928"/>
            <a:ext cx="2103120" cy="548640"/>
          </a:xfrm>
          <a:prstGeom prst="rect">
            <a:avLst/>
          </a:prstGeom>
          <a:noFill/>
          <a:ln/>
        </p:spPr>
        <p:txBody>
          <a:bodyPr wrap="square" lIns="0" tIns="0" rIns="0" bIns="0" rtlCol="0" anchor="t"/>
          <a:lstStyle/>
          <a:p>
            <a:pPr indent="0" marL="0">
              <a:buNone/>
            </a:pPr>
            <a:r>
              <a:rPr lang="en-US" sz="1400" dirty="0">
                <a:solidFill>
                  <a:schemeClr val="bg1"/>
                </a:solidFill>
              </a:rPr>
              <a:t>of respondents have agents in production</a:t>
            </a:r>
            <a:endParaRPr lang="en-US" sz="1400" dirty="0"/>
          </a:p>
        </p:txBody>
      </p:sp>
      <p:sp>
        <p:nvSpPr>
          <p:cNvPr id="8" name="Stat source 1"/>
          <p:cNvSpPr txBox="1"/>
          <p:nvPr/>
        </p:nvSpPr>
        <p:spPr>
          <a:xfrm>
            <a:off x="777240" y="3520440"/>
            <a:ext cx="2103120" cy="411480"/>
          </a:xfrm>
          <a:prstGeom prst="rect">
            <a:avLst/>
          </a:prstGeom>
          <a:noFill/>
          <a:ln/>
        </p:spPr>
        <p:txBody>
          <a:bodyPr wrap="square" lIns="0" tIns="0" rIns="0" bIns="0" rtlCol="0" anchor="t"/>
          <a:lstStyle/>
          <a:p>
            <a:pPr indent="0" marL="0">
              <a:buNone/>
            </a:pPr>
            <a:r>
              <a:rPr lang="en-US" sz="1000" dirty="0">
                <a:solidFill>
                  <a:schemeClr val="bg2"/>
                </a:solidFill>
              </a:rPr>
              <a:t>LangChain, State of Agent Engineering</a:t>
            </a:r>
            <a:endParaRPr lang="en-US" sz="1000" dirty="0"/>
          </a:p>
        </p:txBody>
      </p:sp>
      <p:sp>
        <p:nvSpPr>
          <p:cNvPr id="9" name="Stat card 2"/>
          <p:cNvSpPr/>
          <p:nvPr/>
        </p:nvSpPr>
        <p:spPr>
          <a:xfrm>
            <a:off x="3291840" y="1463040"/>
            <a:ext cx="2560320" cy="2606040"/>
          </a:xfrm>
          <a:prstGeom prst="roundRect">
            <a:avLst>
              <a:gd name="adj" fmla="val 2857"/>
            </a:avLst>
          </a:prstGeom>
          <a:solidFill>
            <a:schemeClr val="tx2"/>
          </a:solidFill>
          <a:ln w="9525">
            <a:solidFill>
              <a:schemeClr val="accent5"/>
            </a:solidFill>
            <a:prstDash val="solid"/>
          </a:ln>
        </p:spPr>
      </p:sp>
      <p:sp>
        <p:nvSpPr>
          <p:cNvPr id="10" name="Stat marker 2"/>
          <p:cNvSpPr/>
          <p:nvPr/>
        </p:nvSpPr>
        <p:spPr>
          <a:xfrm>
            <a:off x="3520440" y="1691640"/>
            <a:ext cx="329184" cy="285073"/>
          </a:xfrm>
          <a:prstGeom prst="hexagon">
            <a:avLst/>
          </a:prstGeom>
          <a:solidFill>
            <a:schemeClr val="accent1"/>
          </a:solidFill>
          <a:ln/>
        </p:spPr>
      </p:sp>
      <p:sp>
        <p:nvSpPr>
          <p:cNvPr id="11" name="Stat number 2"/>
          <p:cNvSpPr txBox="1"/>
          <p:nvPr/>
        </p:nvSpPr>
        <p:spPr>
          <a:xfrm>
            <a:off x="3520440" y="2103120"/>
            <a:ext cx="2103120" cy="73152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109.6M</a:t>
            </a:r>
            <a:endParaRPr lang="en-US" sz="4000" dirty="0"/>
          </a:p>
        </p:txBody>
      </p:sp>
      <p:sp>
        <p:nvSpPr>
          <p:cNvPr id="12" name="Stat label 2"/>
          <p:cNvSpPr txBox="1"/>
          <p:nvPr/>
        </p:nvSpPr>
        <p:spPr>
          <a:xfrm>
            <a:off x="3520440" y="2852928"/>
            <a:ext cx="2103120" cy="548640"/>
          </a:xfrm>
          <a:prstGeom prst="rect">
            <a:avLst/>
          </a:prstGeom>
          <a:noFill/>
          <a:ln/>
        </p:spPr>
        <p:txBody>
          <a:bodyPr wrap="square" lIns="0" tIns="0" rIns="0" bIns="0" rtlCol="0" anchor="t"/>
          <a:lstStyle/>
          <a:p>
            <a:pPr indent="0" marL="0">
              <a:buNone/>
            </a:pPr>
            <a:r>
              <a:rPr lang="en-US" sz="1400" dirty="0">
                <a:solidFill>
                  <a:schemeClr val="bg1"/>
                </a:solidFill>
              </a:rPr>
              <a:t>adjusted x402 transactions through Apr 21, 2026</a:t>
            </a:r>
            <a:endParaRPr lang="en-US" sz="1400" dirty="0"/>
          </a:p>
        </p:txBody>
      </p:sp>
      <p:sp>
        <p:nvSpPr>
          <p:cNvPr id="13" name="Stat source 2"/>
          <p:cNvSpPr txBox="1"/>
          <p:nvPr/>
        </p:nvSpPr>
        <p:spPr>
          <a:xfrm>
            <a:off x="3520440" y="3520440"/>
            <a:ext cx="2103120" cy="411480"/>
          </a:xfrm>
          <a:prstGeom prst="rect">
            <a:avLst/>
          </a:prstGeom>
          <a:noFill/>
          <a:ln/>
        </p:spPr>
        <p:txBody>
          <a:bodyPr wrap="square" lIns="0" tIns="0" rIns="0" bIns="0" rtlCol="0" anchor="t"/>
          <a:lstStyle/>
          <a:p>
            <a:pPr indent="0" marL="0">
              <a:buNone/>
            </a:pPr>
            <a:r>
              <a:rPr lang="en-US" sz="1000" dirty="0">
                <a:solidFill>
                  <a:schemeClr val="bg2"/>
                </a:solidFill>
              </a:rPr>
              <a:t>Visa and Artemis, Agentic Payments from the Ground Up</a:t>
            </a:r>
            <a:endParaRPr lang="en-US" sz="1000" dirty="0"/>
          </a:p>
        </p:txBody>
      </p:sp>
      <p:sp>
        <p:nvSpPr>
          <p:cNvPr id="14" name="Stat card 3"/>
          <p:cNvSpPr/>
          <p:nvPr/>
        </p:nvSpPr>
        <p:spPr>
          <a:xfrm>
            <a:off x="6035040" y="1463040"/>
            <a:ext cx="2560320" cy="2606040"/>
          </a:xfrm>
          <a:prstGeom prst="roundRect">
            <a:avLst>
              <a:gd name="adj" fmla="val 2857"/>
            </a:avLst>
          </a:prstGeom>
          <a:solidFill>
            <a:schemeClr val="tx2"/>
          </a:solidFill>
          <a:ln w="9525">
            <a:solidFill>
              <a:schemeClr val="accent5"/>
            </a:solidFill>
            <a:prstDash val="solid"/>
          </a:ln>
        </p:spPr>
      </p:sp>
      <p:sp>
        <p:nvSpPr>
          <p:cNvPr id="15" name="Stat marker 3"/>
          <p:cNvSpPr/>
          <p:nvPr/>
        </p:nvSpPr>
        <p:spPr>
          <a:xfrm>
            <a:off x="6263640" y="1691640"/>
            <a:ext cx="329184" cy="285073"/>
          </a:xfrm>
          <a:prstGeom prst="hexagon">
            <a:avLst/>
          </a:prstGeom>
          <a:solidFill>
            <a:schemeClr val="accent1"/>
          </a:solidFill>
          <a:ln/>
        </p:spPr>
      </p:sp>
      <p:sp>
        <p:nvSpPr>
          <p:cNvPr id="16" name="Stat number 3"/>
          <p:cNvSpPr txBox="1"/>
          <p:nvPr/>
        </p:nvSpPr>
        <p:spPr>
          <a:xfrm>
            <a:off x="6263640" y="2103120"/>
            <a:ext cx="2103120" cy="73152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$985B</a:t>
            </a:r>
            <a:endParaRPr lang="en-US" sz="4000" dirty="0"/>
          </a:p>
        </p:txBody>
      </p:sp>
      <p:sp>
        <p:nvSpPr>
          <p:cNvPr id="17" name="Stat label 3"/>
          <p:cNvSpPr txBox="1"/>
          <p:nvPr/>
        </p:nvSpPr>
        <p:spPr>
          <a:xfrm>
            <a:off x="6263640" y="2852928"/>
            <a:ext cx="2103120" cy="548640"/>
          </a:xfrm>
          <a:prstGeom prst="rect">
            <a:avLst/>
          </a:prstGeom>
          <a:noFill/>
          <a:ln/>
        </p:spPr>
        <p:txBody>
          <a:bodyPr wrap="square" lIns="0" tIns="0" rIns="0" bIns="0" rtlCol="0" anchor="t"/>
          <a:lstStyle/>
          <a:p>
            <a:pPr indent="0" marL="0">
              <a:buNone/>
            </a:pPr>
            <a:r>
              <a:rPr lang="en-US" sz="1400" dirty="0">
                <a:solidFill>
                  <a:schemeClr val="bg1"/>
                </a:solidFill>
              </a:rPr>
              <a:t>agentic AI software spending forecast by 2030</a:t>
            </a:r>
            <a:endParaRPr lang="en-US" sz="1400" dirty="0"/>
          </a:p>
        </p:txBody>
      </p:sp>
      <p:sp>
        <p:nvSpPr>
          <p:cNvPr id="18" name="Stat source 3"/>
          <p:cNvSpPr txBox="1"/>
          <p:nvPr/>
        </p:nvSpPr>
        <p:spPr>
          <a:xfrm>
            <a:off x="6263640" y="3520440"/>
            <a:ext cx="2103120" cy="411480"/>
          </a:xfrm>
          <a:prstGeom prst="rect">
            <a:avLst/>
          </a:prstGeom>
          <a:noFill/>
          <a:ln/>
        </p:spPr>
        <p:txBody>
          <a:bodyPr wrap="square" lIns="0" tIns="0" rIns="0" bIns="0" rtlCol="0" anchor="t"/>
          <a:lstStyle/>
          <a:p>
            <a:pPr indent="0" marL="0">
              <a:buNone/>
            </a:pPr>
            <a:r>
              <a:rPr lang="en-US" sz="1000" dirty="0">
                <a:solidFill>
                  <a:schemeClr val="bg2"/>
                </a:solidFill>
              </a:rPr>
              <a:t>Gartner, Feb 17, 2026</a:t>
            </a:r>
            <a:endParaRPr lang="en-US" sz="1000" dirty="0"/>
          </a:p>
        </p:txBody>
      </p:sp>
      <p:sp>
        <p:nvSpPr>
          <p:cNvPr id="19" name="Market footnote"/>
          <p:cNvSpPr txBox="1"/>
          <p:nvPr/>
        </p:nvSpPr>
        <p:spPr>
          <a:xfrm>
            <a:off x="548640" y="4224528"/>
            <a:ext cx="8046720" cy="274320"/>
          </a:xfrm>
          <a:prstGeom prst="rect">
            <a:avLst/>
          </a:prstGeom>
          <a:noFill/>
          <a:ln/>
        </p:spPr>
        <p:txBody>
          <a:bodyPr wrap="square" lIns="0" tIns="0" rIns="0" bIns="0" rtlCol="0" anchor="t"/>
          <a:lstStyle/>
          <a:p>
            <a:pPr indent="0" marL="0">
              <a:buNone/>
            </a:pPr>
            <a:r>
              <a:rPr lang="en-US" sz="1000" i="1" dirty="0">
                <a:solidFill>
                  <a:schemeClr val="bg2"/>
                </a:solidFill>
              </a:rPr>
              <a:t>The Gartner forecast covers the broad agentic AI software market, not the market directly addressable by Nectrae.</a:t>
            </a:r>
            <a:endParaRPr lang="en-US" sz="1000" dirty="0"/>
          </a:p>
        </p:txBody>
      </p:sp>
      <p:sp>
        <p:nvSpPr>
          <p:cNvPr id="25" name="Slide Number Placeholder 0"/>
          <p:cNvSpPr>
            <a:spLocks noGrp="1"/>
          </p:cNvSpPr>
          <p:nvPr>
            <p:ph type="sldNum" sz="quarter" idx="4294967295"/>
          </p:nvPr>
        </p:nvSpPr>
        <p:spPr>
          <a:xfrm>
            <a:off x="813816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OUR FOCUS</a:t>
            </a:r>
            <a:endParaRPr lang="en-US" sz="1100" dirty="0"/>
          </a:p>
        </p:txBody>
      </p:sp>
      <p:sp>
        <p:nvSpPr>
          <p:cNvPr id="3" name="Text 0"/>
          <p:cNvSpPr/>
          <p:nvPr>
            <p:ph idx="101" type="title" hasCustomPrompt="1"/>
          </p:nvPr>
        </p:nvSpPr>
        <p:spPr>
          <a:xfrm>
            <a:off x="548640" y="603504"/>
            <a:ext cx="8046720" cy="658368"/>
          </a:xfrm>
          <a:prstGeom prst="rect">
            <a:avLst/>
          </a:prstGeom>
          <a:noFill/>
          <a:ln/>
        </p:spPr>
        <p:txBody>
          <a:bodyPr wrap="square" lIns="0" tIns="0" rIns="0" bIns="0" rtlCol="0" anchor="t"/>
          <a:lstStyle/>
          <a:p>
            <a:pPr algn="l" indent="0" marL="0">
              <a:buNone/>
            </a:pPr>
            <a:r>
              <a:rPr lang="en-US" sz="3200" b="1" dirty="0">
                <a:solidFill>
                  <a:schemeClr val="bg1"/>
                </a:solidFill>
              </a:rPr>
              <a:t>Teams paying for APIs in USDC</a:t>
            </a:r>
            <a:endParaRPr lang="en-US" sz="3200" dirty="0"/>
          </a:p>
        </p:txBody>
      </p:sp>
      <p:sp>
        <p:nvSpPr>
          <p:cNvPr id="4" name="Focus ring 1"/>
          <p:cNvSpPr/>
          <p:nvPr/>
        </p:nvSpPr>
        <p:spPr>
          <a:xfrm>
            <a:off x="594360" y="1586027"/>
            <a:ext cx="3200400" cy="2771546"/>
          </a:xfrm>
          <a:prstGeom prst="hexagon">
            <a:avLst/>
          </a:prstGeom>
          <a:solidFill>
            <a:schemeClr val="tx2"/>
          </a:solidFill>
          <a:ln w="12700">
            <a:solidFill>
              <a:schemeClr val="accent5"/>
            </a:solidFill>
            <a:prstDash val="solid"/>
          </a:ln>
        </p:spPr>
      </p:sp>
      <p:sp>
        <p:nvSpPr>
          <p:cNvPr id="5" name="Focus ring 2"/>
          <p:cNvSpPr/>
          <p:nvPr/>
        </p:nvSpPr>
        <p:spPr>
          <a:xfrm>
            <a:off x="1097280" y="2021556"/>
            <a:ext cx="2194560" cy="1900489"/>
          </a:xfrm>
          <a:prstGeom prst="hexagon">
            <a:avLst/>
          </a:prstGeom>
          <a:solidFill>
            <a:schemeClr val="accent6"/>
          </a:solidFill>
          <a:ln w="12700">
            <a:solidFill>
              <a:schemeClr val="accent1"/>
            </a:solidFill>
            <a:prstDash val="solid"/>
          </a:ln>
        </p:spPr>
      </p:sp>
      <p:sp>
        <p:nvSpPr>
          <p:cNvPr id="6" name="Focus ring 3"/>
          <p:cNvSpPr/>
          <p:nvPr/>
        </p:nvSpPr>
        <p:spPr>
          <a:xfrm>
            <a:off x="1600200" y="2457084"/>
            <a:ext cx="1188720" cy="1029432"/>
          </a:xfrm>
          <a:prstGeom prst="hexagon">
            <a:avLst/>
          </a:prstGeom>
          <a:solidFill>
            <a:schemeClr val="accent1"/>
          </a:solidFill>
          <a:ln/>
        </p:spPr>
      </p:sp>
      <p:sp>
        <p:nvSpPr>
          <p:cNvPr id="7" name="Focus core label"/>
          <p:cNvSpPr txBox="1"/>
          <p:nvPr/>
        </p:nvSpPr>
        <p:spPr>
          <a:xfrm>
            <a:off x="1691640" y="2743200"/>
            <a:ext cx="1005840" cy="457200"/>
          </a:xfrm>
          <a:prstGeom prst="rect">
            <a:avLst/>
          </a:prstGeom>
          <a:noFill/>
          <a:ln/>
        </p:spPr>
        <p:txBody>
          <a:bodyPr wrap="square" lIns="0" tIns="0" rIns="0" bIns="0" rtlCol="0" anchor="ctr"/>
          <a:lstStyle/>
          <a:p>
            <a:pPr algn="ctr" indent="0" marL="0">
              <a:buNone/>
            </a:pPr>
            <a:r>
              <a:rPr lang="en-US" sz="1200" b="1" dirty="0">
                <a:solidFill>
                  <a:schemeClr val="tx1"/>
                </a:solidFill>
              </a:rPr>
              <a:t>USDC API teams</a:t>
            </a:r>
            <a:endParaRPr lang="en-US" sz="1200" dirty="0"/>
          </a:p>
        </p:txBody>
      </p:sp>
      <p:sp>
        <p:nvSpPr>
          <p:cNvPr id="8" name="Focus bullet 1"/>
          <p:cNvSpPr/>
          <p:nvPr/>
        </p:nvSpPr>
        <p:spPr>
          <a:xfrm>
            <a:off x="4206240" y="1572768"/>
            <a:ext cx="329184" cy="285073"/>
          </a:xfrm>
          <a:prstGeom prst="hexagon">
            <a:avLst/>
          </a:prstGeom>
          <a:solidFill>
            <a:schemeClr val="tx2"/>
          </a:solidFill>
          <a:ln w="12700">
            <a:solidFill>
              <a:schemeClr val="accent5"/>
            </a:solidFill>
            <a:prstDash val="solid"/>
          </a:ln>
        </p:spPr>
      </p:sp>
      <p:sp>
        <p:nvSpPr>
          <p:cNvPr id="9" name="Focus title 1"/>
          <p:cNvSpPr txBox="1"/>
          <p:nvPr/>
        </p:nvSpPr>
        <p:spPr>
          <a:xfrm>
            <a:off x="4709160" y="1554480"/>
            <a:ext cx="3886200" cy="274320"/>
          </a:xfrm>
          <a:prstGeom prst="rect">
            <a:avLst/>
          </a:prstGeom>
          <a:noFill/>
          <a:ln/>
        </p:spPr>
        <p:txBody>
          <a:bodyPr wrap="square" lIns="0" tIns="0" rIns="0" bIns="0" rtlCol="0" anchor="t"/>
          <a:lstStyle/>
          <a:p>
            <a:pPr indent="0" marL="0">
              <a:buNone/>
            </a:pPr>
            <a:r>
              <a:rPr lang="en-US" sz="1600" b="1" dirty="0">
                <a:solidFill>
                  <a:schemeClr val="bg1"/>
                </a:solidFill>
              </a:rPr>
              <a:t>Agentic AI software</a:t>
            </a:r>
            <a:endParaRPr lang="en-US" sz="1600" dirty="0"/>
          </a:p>
        </p:txBody>
      </p:sp>
      <p:sp>
        <p:nvSpPr>
          <p:cNvPr id="10" name="Focus body 1"/>
          <p:cNvSpPr txBox="1"/>
          <p:nvPr/>
        </p:nvSpPr>
        <p:spPr>
          <a:xfrm>
            <a:off x="4709160" y="1847088"/>
            <a:ext cx="3886200" cy="502920"/>
          </a:xfrm>
          <a:prstGeom prst="rect">
            <a:avLst/>
          </a:prstGeom>
          <a:noFill/>
          <a:ln/>
        </p:spPr>
        <p:txBody>
          <a:bodyPr wrap="square" lIns="0" tIns="0" rIns="0" bIns="0" rtlCol="0" anchor="t"/>
          <a:lstStyle/>
          <a:p>
            <a:pPr indent="0" marL="0">
              <a:buNone/>
            </a:pPr>
            <a:r>
              <a:rPr lang="en-US" sz="1400" dirty="0">
                <a:solidFill>
                  <a:schemeClr val="bg2"/>
                </a:solidFill>
              </a:rPr>
              <a:t>$985B forecast by 2030 (Gartner). The broad market context.</a:t>
            </a:r>
            <a:endParaRPr lang="en-US" sz="1400" dirty="0"/>
          </a:p>
        </p:txBody>
      </p:sp>
      <p:sp>
        <p:nvSpPr>
          <p:cNvPr id="11" name="Focus bullet 2"/>
          <p:cNvSpPr/>
          <p:nvPr/>
        </p:nvSpPr>
        <p:spPr>
          <a:xfrm>
            <a:off x="4206240" y="2532888"/>
            <a:ext cx="329184" cy="285073"/>
          </a:xfrm>
          <a:prstGeom prst="hexagon">
            <a:avLst/>
          </a:prstGeom>
          <a:solidFill>
            <a:schemeClr val="accent6"/>
          </a:solidFill>
          <a:ln w="12700">
            <a:solidFill>
              <a:schemeClr val="accent1"/>
            </a:solidFill>
            <a:prstDash val="solid"/>
          </a:ln>
        </p:spPr>
      </p:sp>
      <p:sp>
        <p:nvSpPr>
          <p:cNvPr id="12" name="Focus title 2"/>
          <p:cNvSpPr txBox="1"/>
          <p:nvPr/>
        </p:nvSpPr>
        <p:spPr>
          <a:xfrm>
            <a:off x="4709160" y="2514600"/>
            <a:ext cx="3886200" cy="274320"/>
          </a:xfrm>
          <a:prstGeom prst="rect">
            <a:avLst/>
          </a:prstGeom>
          <a:noFill/>
          <a:ln/>
        </p:spPr>
        <p:txBody>
          <a:bodyPr wrap="square" lIns="0" tIns="0" rIns="0" bIns="0" rtlCol="0" anchor="t"/>
          <a:lstStyle/>
          <a:p>
            <a:pPr indent="0" marL="0">
              <a:buNone/>
            </a:pPr>
            <a:r>
              <a:rPr lang="en-US" sz="1600" b="1" dirty="0">
                <a:solidFill>
                  <a:schemeClr val="bg1"/>
                </a:solidFill>
              </a:rPr>
              <a:t>Paid agent workflows</a:t>
            </a:r>
            <a:endParaRPr lang="en-US" sz="1600" dirty="0"/>
          </a:p>
        </p:txBody>
      </p:sp>
      <p:sp>
        <p:nvSpPr>
          <p:cNvPr id="13" name="Focus body 2"/>
          <p:cNvSpPr txBox="1"/>
          <p:nvPr/>
        </p:nvSpPr>
        <p:spPr>
          <a:xfrm>
            <a:off x="4709160" y="2807208"/>
            <a:ext cx="3886200" cy="502920"/>
          </a:xfrm>
          <a:prstGeom prst="rect">
            <a:avLst/>
          </a:prstGeom>
          <a:noFill/>
          <a:ln/>
        </p:spPr>
        <p:txBody>
          <a:bodyPr wrap="square" lIns="0" tIns="0" rIns="0" bIns="0" rtlCol="0" anchor="t"/>
          <a:lstStyle/>
          <a:p>
            <a:pPr indent="0" marL="0">
              <a:buNone/>
            </a:pPr>
            <a:r>
              <a:rPr lang="en-US" sz="1400" dirty="0">
                <a:solidFill>
                  <a:schemeClr val="bg2"/>
                </a:solidFill>
              </a:rPr>
              <a:t>Software already pays for services: 109.6M adjusted x402 transactions.</a:t>
            </a:r>
            <a:endParaRPr lang="en-US" sz="1400" dirty="0"/>
          </a:p>
        </p:txBody>
      </p:sp>
      <p:sp>
        <p:nvSpPr>
          <p:cNvPr id="14" name="Focus bullet 3"/>
          <p:cNvSpPr/>
          <p:nvPr/>
        </p:nvSpPr>
        <p:spPr>
          <a:xfrm>
            <a:off x="4206240" y="3493008"/>
            <a:ext cx="329184" cy="285073"/>
          </a:xfrm>
          <a:prstGeom prst="hexagon">
            <a:avLst/>
          </a:prstGeom>
          <a:solidFill>
            <a:schemeClr val="accent1"/>
          </a:solidFill>
          <a:ln/>
        </p:spPr>
      </p:sp>
      <p:sp>
        <p:nvSpPr>
          <p:cNvPr id="15" name="Focus title 3"/>
          <p:cNvSpPr txBox="1"/>
          <p:nvPr/>
        </p:nvSpPr>
        <p:spPr>
          <a:xfrm>
            <a:off x="4709160" y="3474720"/>
            <a:ext cx="3886200" cy="274320"/>
          </a:xfrm>
          <a:prstGeom prst="rect">
            <a:avLst/>
          </a:prstGeom>
          <a:noFill/>
          <a:ln/>
        </p:spPr>
        <p:txBody>
          <a:bodyPr wrap="square" lIns="0" tIns="0" rIns="0" bIns="0" rtlCol="0" anchor="t"/>
          <a:lstStyle/>
          <a:p>
            <a:pPr indent="0" marL="0">
              <a:buNone/>
            </a:pPr>
            <a:r>
              <a:rPr lang="en-US" sz="1600" b="1" dirty="0">
                <a:solidFill>
                  <a:schemeClr val="accent1"/>
                </a:solidFill>
              </a:rPr>
              <a:t>Our focus</a:t>
            </a:r>
            <a:endParaRPr lang="en-US" sz="1600" dirty="0"/>
          </a:p>
        </p:txBody>
      </p:sp>
      <p:sp>
        <p:nvSpPr>
          <p:cNvPr id="16" name="Focus body 3"/>
          <p:cNvSpPr txBox="1"/>
          <p:nvPr/>
        </p:nvSpPr>
        <p:spPr>
          <a:xfrm>
            <a:off x="4709160" y="3767328"/>
            <a:ext cx="3886200" cy="502920"/>
          </a:xfrm>
          <a:prstGeom prst="rect">
            <a:avLst/>
          </a:prstGeom>
          <a:noFill/>
          <a:ln/>
        </p:spPr>
        <p:txBody>
          <a:bodyPr wrap="square" lIns="0" tIns="0" rIns="0" bIns="0" rtlCol="0" anchor="t"/>
          <a:lstStyle/>
          <a:p>
            <a:pPr indent="0" marL="0">
              <a:buNone/>
            </a:pPr>
            <a:r>
              <a:rPr lang="en-US" sz="1400" dirty="0">
                <a:solidFill>
                  <a:schemeClr val="bg2"/>
                </a:solidFill>
              </a:rPr>
              <a:t>Teams whose agents pay for APIs in USDC, on Solana and Base.</a:t>
            </a:r>
            <a:endParaRPr lang="en-US" sz="1400" dirty="0"/>
          </a:p>
        </p:txBody>
      </p:sp>
      <p:sp>
        <p:nvSpPr>
          <p:cNvPr id="25" name="Slide Number Placeholder 0"/>
          <p:cNvSpPr>
            <a:spLocks noGrp="1"/>
          </p:cNvSpPr>
          <p:nvPr>
            <p:ph type="sldNum" sz="quarter" idx="4294967295"/>
          </p:nvPr>
        </p:nvSpPr>
        <p:spPr>
          <a:xfrm>
            <a:off x="813816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THE SOLUTION</a:t>
            </a:r>
            <a:endParaRPr lang="en-US" sz="1100" dirty="0"/>
          </a:p>
        </p:txBody>
      </p:sp>
      <p:sp>
        <p:nvSpPr>
          <p:cNvPr id="3" name="Text 0"/>
          <p:cNvSpPr/>
          <p:nvPr>
            <p:ph idx="101" type="title" hasCustomPrompt="1"/>
          </p:nvPr>
        </p:nvSpPr>
        <p:spPr>
          <a:xfrm>
            <a:off x="548640" y="603504"/>
            <a:ext cx="8046720" cy="658368"/>
          </a:xfrm>
          <a:prstGeom prst="rect">
            <a:avLst/>
          </a:prstGeom>
          <a:noFill/>
          <a:ln/>
        </p:spPr>
        <p:txBody>
          <a:bodyPr wrap="square" lIns="0" tIns="0" rIns="0" bIns="0" rtlCol="0" anchor="t"/>
          <a:lstStyle/>
          <a:p>
            <a:pPr algn="l" indent="0" marL="0">
              <a:buNone/>
            </a:pPr>
            <a:r>
              <a:rPr lang="en-US" sz="3200" b="1" dirty="0">
                <a:solidFill>
                  <a:schemeClr val="bg1"/>
                </a:solidFill>
              </a:rPr>
              <a:t>One budget per API, across Solana and Base</a:t>
            </a:r>
            <a:endParaRPr lang="en-US" sz="3200" dirty="0"/>
          </a:p>
        </p:txBody>
      </p:sp>
      <p:sp>
        <p:nvSpPr>
          <p:cNvPr id="4" name="Solana pill"/>
          <p:cNvSpPr/>
          <p:nvPr/>
        </p:nvSpPr>
        <p:spPr>
          <a:xfrm>
            <a:off x="548640" y="1783080"/>
            <a:ext cx="1463040" cy="457200"/>
          </a:xfrm>
          <a:prstGeom prst="roundRect">
            <a:avLst>
              <a:gd name="adj" fmla="val 50000"/>
            </a:avLst>
          </a:prstGeom>
          <a:solidFill>
            <a:schemeClr val="tx2"/>
          </a:solidFill>
          <a:ln w="9525">
            <a:solidFill>
              <a:schemeClr val="accent5"/>
            </a:solidFill>
            <a:prstDash val="solid"/>
          </a:ln>
        </p:spPr>
      </p:sp>
      <p:sp>
        <p:nvSpPr>
          <p:cNvPr id="5" name="Solana label"/>
          <p:cNvSpPr txBox="1"/>
          <p:nvPr/>
        </p:nvSpPr>
        <p:spPr>
          <a:xfrm>
            <a:off x="548640" y="1783080"/>
            <a:ext cx="1463040" cy="457200"/>
          </a:xfrm>
          <a:prstGeom prst="rect">
            <a:avLst/>
          </a:prstGeom>
          <a:noFill/>
          <a:ln/>
        </p:spPr>
        <p:txBody>
          <a:bodyPr wrap="square" lIns="0" tIns="0" rIns="0" bIns="0" rtlCol="0" anchor="ctr"/>
          <a:lstStyle/>
          <a:p>
            <a:pPr algn="ctr" indent="0" marL="0">
              <a:buNone/>
            </a:pPr>
            <a:r>
              <a:rPr lang="en-US" sz="1500" b="1" dirty="0">
                <a:solidFill>
                  <a:schemeClr val="bg1"/>
                </a:solidFill>
              </a:rPr>
              <a:t>Solana</a:t>
            </a:r>
            <a:endParaRPr lang="en-US" sz="1500" dirty="0"/>
          </a:p>
        </p:txBody>
      </p:sp>
      <p:sp>
        <p:nvSpPr>
          <p:cNvPr id="6" name="Base pill"/>
          <p:cNvSpPr/>
          <p:nvPr/>
        </p:nvSpPr>
        <p:spPr>
          <a:xfrm>
            <a:off x="548640" y="3246120"/>
            <a:ext cx="1463040" cy="457200"/>
          </a:xfrm>
          <a:prstGeom prst="roundRect">
            <a:avLst>
              <a:gd name="adj" fmla="val 50000"/>
            </a:avLst>
          </a:prstGeom>
          <a:solidFill>
            <a:schemeClr val="tx2"/>
          </a:solidFill>
          <a:ln w="9525">
            <a:solidFill>
              <a:schemeClr val="accent5"/>
            </a:solidFill>
            <a:prstDash val="solid"/>
          </a:ln>
        </p:spPr>
      </p:sp>
      <p:sp>
        <p:nvSpPr>
          <p:cNvPr id="7" name="Base label"/>
          <p:cNvSpPr txBox="1"/>
          <p:nvPr/>
        </p:nvSpPr>
        <p:spPr>
          <a:xfrm>
            <a:off x="548640" y="3246120"/>
            <a:ext cx="1463040" cy="457200"/>
          </a:xfrm>
          <a:prstGeom prst="rect">
            <a:avLst/>
          </a:prstGeom>
          <a:noFill/>
          <a:ln/>
        </p:spPr>
        <p:txBody>
          <a:bodyPr wrap="square" lIns="0" tIns="0" rIns="0" bIns="0" rtlCol="0" anchor="ctr"/>
          <a:lstStyle/>
          <a:p>
            <a:pPr algn="ctr" indent="0" marL="0">
              <a:buNone/>
            </a:pPr>
            <a:r>
              <a:rPr lang="en-US" sz="1500" b="1" dirty="0">
                <a:solidFill>
                  <a:schemeClr val="bg1"/>
                </a:solidFill>
              </a:rPr>
              <a:t>Base</a:t>
            </a:r>
            <a:endParaRPr lang="en-US" sz="1500" dirty="0"/>
          </a:p>
        </p:txBody>
      </p:sp>
      <p:sp>
        <p:nvSpPr>
          <p:cNvPr id="8" name="Solana connector"/>
          <p:cNvSpPr/>
          <p:nvPr/>
        </p:nvSpPr>
        <p:spPr>
          <a:xfrm>
            <a:off x="2011680" y="2011680"/>
            <a:ext cx="640080" cy="640080"/>
          </a:xfrm>
          <a:prstGeom prst="line">
            <a:avLst/>
          </a:prstGeom>
          <a:noFill/>
          <a:ln w="19050">
            <a:solidFill>
              <a:schemeClr val="accent1"/>
            </a:solidFill>
            <a:prstDash val="solid"/>
          </a:ln>
        </p:spPr>
      </p:sp>
      <p:sp>
        <p:nvSpPr>
          <p:cNvPr id="9" name="Base connector"/>
          <p:cNvSpPr/>
          <p:nvPr/>
        </p:nvSpPr>
        <p:spPr>
          <a:xfrm flipV="1">
            <a:off x="2011680" y="3017520"/>
            <a:ext cx="640080" cy="457200"/>
          </a:xfrm>
          <a:prstGeom prst="line">
            <a:avLst/>
          </a:prstGeom>
          <a:noFill/>
          <a:ln w="19050">
            <a:solidFill>
              <a:schemeClr val="accent1"/>
            </a:solidFill>
            <a:prstDash val="solid"/>
          </a:ln>
        </p:spPr>
      </p:sp>
      <p:sp>
        <p:nvSpPr>
          <p:cNvPr id="10" name="Budget card"/>
          <p:cNvSpPr/>
          <p:nvPr/>
        </p:nvSpPr>
        <p:spPr>
          <a:xfrm>
            <a:off x="2651760" y="2148840"/>
            <a:ext cx="1828800" cy="1417320"/>
          </a:xfrm>
          <a:prstGeom prst="roundRect">
            <a:avLst>
              <a:gd name="adj" fmla="val 5161"/>
            </a:avLst>
          </a:prstGeom>
          <a:solidFill>
            <a:schemeClr val="accent6"/>
          </a:solidFill>
          <a:ln w="9525">
            <a:solidFill>
              <a:schemeClr val="accent5"/>
            </a:solidFill>
            <a:prstDash val="solid"/>
          </a:ln>
        </p:spPr>
      </p:sp>
      <p:sp>
        <p:nvSpPr>
          <p:cNvPr id="11" name="Budget caption"/>
          <p:cNvSpPr txBox="1"/>
          <p:nvPr/>
        </p:nvSpPr>
        <p:spPr>
          <a:xfrm>
            <a:off x="2788920" y="2267712"/>
            <a:ext cx="1554480" cy="256032"/>
          </a:xfrm>
          <a:prstGeom prst="rect">
            <a:avLst/>
          </a:prstGeom>
          <a:noFill/>
          <a:ln/>
        </p:spPr>
        <p:txBody>
          <a:bodyPr wrap="square" lIns="0" tIns="0" rIns="0" bIns="0" rtlCol="0" anchor="t"/>
          <a:lstStyle/>
          <a:p>
            <a:pPr indent="0" marL="0">
              <a:buNone/>
            </a:pPr>
            <a:r>
              <a:rPr lang="en-US" sz="1200" dirty="0">
                <a:solidFill>
                  <a:schemeClr val="bg2"/>
                </a:solidFill>
              </a:rPr>
              <a:t>Example API</a:t>
            </a:r>
            <a:endParaRPr lang="en-US" sz="1200" dirty="0"/>
          </a:p>
        </p:txBody>
      </p:sp>
      <p:sp>
        <p:nvSpPr>
          <p:cNvPr id="12" name="Budget value"/>
          <p:cNvSpPr txBox="1"/>
          <p:nvPr/>
        </p:nvSpPr>
        <p:spPr>
          <a:xfrm>
            <a:off x="2788920" y="2542032"/>
            <a:ext cx="1600200" cy="411480"/>
          </a:xfrm>
          <a:prstGeom prst="rect">
            <a:avLst/>
          </a:prstGeom>
          <a:noFill/>
          <a:ln/>
        </p:spPr>
        <p:txBody>
          <a:bodyPr wrap="square" lIns="0" tIns="0" rIns="0" bIns="0" rtlCol="0" anchor="t"/>
          <a:lstStyle/>
          <a:p>
            <a:pPr indent="0" marL="0">
              <a:buNone/>
            </a:pPr>
            <a:r>
              <a:rPr lang="en-US" sz="2000" b="1" dirty="0">
                <a:solidFill>
                  <a:schemeClr val="accent1"/>
                </a:solidFill>
                <a:latin typeface="+mj-lt" pitchFamily="34" charset="0"/>
                <a:ea typeface="+mj-lt" pitchFamily="34" charset="-122"/>
                <a:cs typeface="+mj-lt" pitchFamily="34" charset="-120"/>
              </a:rPr>
              <a:t>1 USDC / day</a:t>
            </a:r>
            <a:endParaRPr lang="en-US" sz="2000" dirty="0"/>
          </a:p>
        </p:txBody>
      </p:sp>
      <p:sp>
        <p:nvSpPr>
          <p:cNvPr id="13" name="Budget per call"/>
          <p:cNvSpPr txBox="1"/>
          <p:nvPr/>
        </p:nvSpPr>
        <p:spPr>
          <a:xfrm>
            <a:off x="2788920" y="3017520"/>
            <a:ext cx="1554480" cy="274320"/>
          </a:xfrm>
          <a:prstGeom prst="rect">
            <a:avLst/>
          </a:prstGeom>
          <a:noFill/>
          <a:ln/>
        </p:spPr>
        <p:txBody>
          <a:bodyPr wrap="square" lIns="0" tIns="0" rIns="0" bIns="0" rtlCol="0" anchor="t"/>
          <a:lstStyle/>
          <a:p>
            <a:pPr indent="0" marL="0">
              <a:buNone/>
            </a:pPr>
            <a:r>
              <a:rPr lang="en-US" sz="1300" dirty="0">
                <a:solidFill>
                  <a:schemeClr val="bg1"/>
                </a:solidFill>
              </a:rPr>
              <a:t>max $0.05 per call</a:t>
            </a:r>
            <a:endParaRPr lang="en-US" sz="1300" dirty="0"/>
          </a:p>
        </p:txBody>
      </p:sp>
      <p:sp>
        <p:nvSpPr>
          <p:cNvPr id="14" name="Check budget"/>
          <p:cNvSpPr/>
          <p:nvPr/>
        </p:nvSpPr>
        <p:spPr>
          <a:xfrm>
            <a:off x="4937760" y="1554480"/>
            <a:ext cx="512064" cy="443447"/>
          </a:xfrm>
          <a:prstGeom prst="hexagon">
            <a:avLst/>
          </a:prstGeom>
          <a:solidFill>
            <a:schemeClr val="accent1"/>
          </a:solidFill>
          <a:ln/>
        </p:spPr>
      </p:sp>
      <p:pic>
        <p:nvPicPr>
          <p:cNvPr id="15" name="Check budget icon" descr="preencoded.png">    </p:cNvPr>
          <p:cNvPicPr>
            <a:picLocks noChangeAspect="1"/>
          </p:cNvPicPr>
          <p:nvPr/>
        </p:nvPicPr>
        <p:blipFill>
          <a:blip r:embed="rId1"/>
          <a:stretch>
            <a:fillRect/>
          </a:stretch>
        </p:blipFill>
        <p:spPr>
          <a:xfrm>
            <a:off x="5086259" y="1668670"/>
            <a:ext cx="215067" cy="215067"/>
          </a:xfrm>
          <a:prstGeom prst="rect">
            <a:avLst/>
          </a:prstGeom>
        </p:spPr>
      </p:pic>
      <p:sp>
        <p:nvSpPr>
          <p:cNvPr id="16" name="Check budget title"/>
          <p:cNvSpPr txBox="1"/>
          <p:nvPr/>
        </p:nvSpPr>
        <p:spPr>
          <a:xfrm>
            <a:off x="5650992" y="1536192"/>
            <a:ext cx="2944368" cy="274320"/>
          </a:xfrm>
          <a:prstGeom prst="rect">
            <a:avLst/>
          </a:prstGeom>
          <a:noFill/>
          <a:ln/>
        </p:spPr>
        <p:txBody>
          <a:bodyPr wrap="square" lIns="0" tIns="0" rIns="0" bIns="0" rtlCol="0" anchor="t"/>
          <a:lstStyle/>
          <a:p>
            <a:pPr indent="0" marL="0">
              <a:buNone/>
            </a:pPr>
            <a:r>
              <a:rPr lang="en-US" sz="1600" b="1" dirty="0">
                <a:solidFill>
                  <a:schemeClr val="bg1"/>
                </a:solidFill>
              </a:rPr>
              <a:t>Daily budget</a:t>
            </a:r>
            <a:endParaRPr lang="en-US" sz="1600" dirty="0"/>
          </a:p>
        </p:txBody>
      </p:sp>
      <p:sp>
        <p:nvSpPr>
          <p:cNvPr id="17" name="Check budget body"/>
          <p:cNvSpPr txBox="1"/>
          <p:nvPr/>
        </p:nvSpPr>
        <p:spPr>
          <a:xfrm>
            <a:off x="5650992" y="1828800"/>
            <a:ext cx="2944368" cy="457200"/>
          </a:xfrm>
          <a:prstGeom prst="rect">
            <a:avLst/>
          </a:prstGeom>
          <a:noFill/>
          <a:ln/>
        </p:spPr>
        <p:txBody>
          <a:bodyPr wrap="square" lIns="0" tIns="0" rIns="0" bIns="0" rtlCol="0" anchor="t"/>
          <a:lstStyle/>
          <a:p>
            <a:pPr indent="0" marL="0">
              <a:buNone/>
            </a:pPr>
            <a:r>
              <a:rPr lang="en-US" sz="1400" dirty="0">
                <a:solidFill>
                  <a:schemeClr val="bg2"/>
                </a:solidFill>
              </a:rPr>
              <a:t>Solana and Base requests count toward the same budget.</a:t>
            </a:r>
            <a:endParaRPr lang="en-US" sz="1400" dirty="0"/>
          </a:p>
        </p:txBody>
      </p:sp>
      <p:sp>
        <p:nvSpPr>
          <p:cNvPr id="18" name="Check per call"/>
          <p:cNvSpPr/>
          <p:nvPr/>
        </p:nvSpPr>
        <p:spPr>
          <a:xfrm>
            <a:off x="4937760" y="2423160"/>
            <a:ext cx="512064" cy="443447"/>
          </a:xfrm>
          <a:prstGeom prst="hexagon">
            <a:avLst/>
          </a:prstGeom>
          <a:solidFill>
            <a:schemeClr val="accent1"/>
          </a:solidFill>
          <a:ln/>
        </p:spPr>
      </p:sp>
      <p:pic>
        <p:nvPicPr>
          <p:cNvPr id="19" name="Check per call icon" descr="preencoded.png">    </p:cNvPr>
          <p:cNvPicPr>
            <a:picLocks noChangeAspect="1"/>
          </p:cNvPicPr>
          <p:nvPr/>
        </p:nvPicPr>
        <p:blipFill>
          <a:blip r:embed="rId2"/>
          <a:stretch>
            <a:fillRect/>
          </a:stretch>
        </p:blipFill>
        <p:spPr>
          <a:xfrm>
            <a:off x="5086259" y="2537350"/>
            <a:ext cx="215067" cy="215067"/>
          </a:xfrm>
          <a:prstGeom prst="rect">
            <a:avLst/>
          </a:prstGeom>
        </p:spPr>
      </p:pic>
      <p:sp>
        <p:nvSpPr>
          <p:cNvPr id="20" name="Check per call title"/>
          <p:cNvSpPr txBox="1"/>
          <p:nvPr/>
        </p:nvSpPr>
        <p:spPr>
          <a:xfrm>
            <a:off x="5650992" y="2404872"/>
            <a:ext cx="2944368" cy="274320"/>
          </a:xfrm>
          <a:prstGeom prst="rect">
            <a:avLst/>
          </a:prstGeom>
          <a:noFill/>
          <a:ln/>
        </p:spPr>
        <p:txBody>
          <a:bodyPr wrap="square" lIns="0" tIns="0" rIns="0" bIns="0" rtlCol="0" anchor="t"/>
          <a:lstStyle/>
          <a:p>
            <a:pPr indent="0" marL="0">
              <a:buNone/>
            </a:pPr>
            <a:r>
              <a:rPr lang="en-US" sz="1600" b="1" dirty="0">
                <a:solidFill>
                  <a:schemeClr val="bg1"/>
                </a:solidFill>
              </a:rPr>
              <a:t>Per-call limit</a:t>
            </a:r>
            <a:endParaRPr lang="en-US" sz="1600" dirty="0"/>
          </a:p>
        </p:txBody>
      </p:sp>
      <p:sp>
        <p:nvSpPr>
          <p:cNvPr id="21" name="Check per call body"/>
          <p:cNvSpPr txBox="1"/>
          <p:nvPr/>
        </p:nvSpPr>
        <p:spPr>
          <a:xfrm>
            <a:off x="5650992" y="2697480"/>
            <a:ext cx="2944368" cy="457200"/>
          </a:xfrm>
          <a:prstGeom prst="rect">
            <a:avLst/>
          </a:prstGeom>
          <a:noFill/>
          <a:ln/>
        </p:spPr>
        <p:txBody>
          <a:bodyPr wrap="square" lIns="0" tIns="0" rIns="0" bIns="0" rtlCol="0" anchor="t"/>
          <a:lstStyle/>
          <a:p>
            <a:pPr indent="0" marL="0">
              <a:buNone/>
            </a:pPr>
            <a:r>
              <a:rPr lang="en-US" sz="1400" dirty="0">
                <a:solidFill>
                  <a:schemeClr val="bg2"/>
                </a:solidFill>
              </a:rPr>
              <a:t>A 20-cent call is blocked when the limit is 5 cents.</a:t>
            </a:r>
            <a:endParaRPr lang="en-US" sz="1400" dirty="0"/>
          </a:p>
        </p:txBody>
      </p:sp>
      <p:sp>
        <p:nvSpPr>
          <p:cNvPr id="22" name="Check recipient"/>
          <p:cNvSpPr/>
          <p:nvPr/>
        </p:nvSpPr>
        <p:spPr>
          <a:xfrm>
            <a:off x="4937760" y="3291840"/>
            <a:ext cx="512064" cy="443447"/>
          </a:xfrm>
          <a:prstGeom prst="hexagon">
            <a:avLst/>
          </a:prstGeom>
          <a:solidFill>
            <a:schemeClr val="accent1"/>
          </a:solidFill>
          <a:ln/>
        </p:spPr>
      </p:sp>
      <p:pic>
        <p:nvPicPr>
          <p:cNvPr id="23" name="Check recipient icon" descr="preencoded.png">    </p:cNvPr>
          <p:cNvPicPr>
            <a:picLocks noChangeAspect="1"/>
          </p:cNvPicPr>
          <p:nvPr/>
        </p:nvPicPr>
        <p:blipFill>
          <a:blip r:embed="rId3"/>
          <a:stretch>
            <a:fillRect/>
          </a:stretch>
        </p:blipFill>
        <p:spPr>
          <a:xfrm>
            <a:off x="5086259" y="3406030"/>
            <a:ext cx="215067" cy="215067"/>
          </a:xfrm>
          <a:prstGeom prst="rect">
            <a:avLst/>
          </a:prstGeom>
        </p:spPr>
      </p:pic>
      <p:sp>
        <p:nvSpPr>
          <p:cNvPr id="24" name="Check recipient title"/>
          <p:cNvSpPr txBox="1"/>
          <p:nvPr/>
        </p:nvSpPr>
        <p:spPr>
          <a:xfrm>
            <a:off x="5650992" y="3273552"/>
            <a:ext cx="2944368" cy="274320"/>
          </a:xfrm>
          <a:prstGeom prst="rect">
            <a:avLst/>
          </a:prstGeom>
          <a:noFill/>
          <a:ln/>
        </p:spPr>
        <p:txBody>
          <a:bodyPr wrap="square" lIns="0" tIns="0" rIns="0" bIns="0" rtlCol="0" anchor="t"/>
          <a:lstStyle/>
          <a:p>
            <a:pPr indent="0" marL="0">
              <a:buNone/>
            </a:pPr>
            <a:r>
              <a:rPr lang="en-US" sz="1600" b="1" dirty="0">
                <a:solidFill>
                  <a:schemeClr val="bg1"/>
                </a:solidFill>
              </a:rPr>
              <a:t>Allowed recipients</a:t>
            </a:r>
            <a:endParaRPr lang="en-US" sz="1600" dirty="0"/>
          </a:p>
        </p:txBody>
      </p:sp>
      <p:sp>
        <p:nvSpPr>
          <p:cNvPr id="25" name="Check recipient body"/>
          <p:cNvSpPr txBox="1"/>
          <p:nvPr/>
        </p:nvSpPr>
        <p:spPr>
          <a:xfrm>
            <a:off x="5650992" y="3566160"/>
            <a:ext cx="2944368" cy="457200"/>
          </a:xfrm>
          <a:prstGeom prst="rect">
            <a:avLst/>
          </a:prstGeom>
          <a:noFill/>
          <a:ln/>
        </p:spPr>
        <p:txBody>
          <a:bodyPr wrap="square" lIns="0" tIns="0" rIns="0" bIns="0" rtlCol="0" anchor="t"/>
          <a:lstStyle/>
          <a:p>
            <a:pPr indent="0" marL="0">
              <a:buNone/>
            </a:pPr>
            <a:r>
              <a:rPr lang="en-US" sz="1400" dirty="0">
                <a:solidFill>
                  <a:schemeClr val="bg2"/>
                </a:solidFill>
              </a:rPr>
              <a:t>Payments to recipients outside the list are blocked.</a:t>
            </a:r>
            <a:endParaRPr lang="en-US" sz="1400" dirty="0"/>
          </a:p>
        </p:txBody>
      </p:sp>
      <p:sp>
        <p:nvSpPr>
          <p:cNvPr id="26" name="Solution footnote"/>
          <p:cNvSpPr txBox="1"/>
          <p:nvPr/>
        </p:nvSpPr>
        <p:spPr>
          <a:xfrm>
            <a:off x="548640" y="4160520"/>
            <a:ext cx="8046720" cy="320040"/>
          </a:xfrm>
          <a:prstGeom prst="rect">
            <a:avLst/>
          </a:prstGeom>
          <a:noFill/>
          <a:ln/>
        </p:spPr>
        <p:txBody>
          <a:bodyPr wrap="square" lIns="0" tIns="0" rIns="0" bIns="0" rtlCol="0" anchor="t"/>
          <a:lstStyle/>
          <a:p>
            <a:pPr indent="0" marL="0">
              <a:buNone/>
            </a:pPr>
            <a:r>
              <a:rPr lang="en-US" sz="1400" i="1" dirty="0">
                <a:solidFill>
                  <a:schemeClr val="accent1"/>
                </a:solidFill>
              </a:rPr>
              <a:t>Checked before signing, in SDK-connected workflows.</a:t>
            </a:r>
            <a:endParaRPr lang="en-US" sz="1400" dirty="0"/>
          </a:p>
        </p:txBody>
      </p:sp>
      <p:sp>
        <p:nvSpPr>
          <p:cNvPr id="25" name="Slide Number Placeholder 0"/>
          <p:cNvSpPr>
            <a:spLocks noGrp="1"/>
          </p:cNvSpPr>
          <p:nvPr>
            <p:ph type="sldNum" sz="quarter" idx="4294967295"/>
          </p:nvPr>
        </p:nvSpPr>
        <p:spPr>
          <a:xfrm>
            <a:off x="813816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HOW IT WORKS</a:t>
            </a:r>
            <a:endParaRPr lang="en-US" sz="1100" dirty="0"/>
          </a:p>
        </p:txBody>
      </p:sp>
      <p:sp>
        <p:nvSpPr>
          <p:cNvPr id="3" name="Text 0"/>
          <p:cNvSpPr/>
          <p:nvPr>
            <p:ph idx="101" type="title" hasCustomPrompt="1"/>
          </p:nvPr>
        </p:nvSpPr>
        <p:spPr>
          <a:xfrm>
            <a:off x="548640" y="603504"/>
            <a:ext cx="8046720" cy="658368"/>
          </a:xfrm>
          <a:prstGeom prst="rect">
            <a:avLst/>
          </a:prstGeom>
          <a:noFill/>
          <a:ln/>
        </p:spPr>
        <p:txBody>
          <a:bodyPr wrap="square" lIns="0" tIns="0" rIns="0" bIns="0" rtlCol="0" anchor="t"/>
          <a:lstStyle/>
          <a:p>
            <a:pPr algn="l" indent="0" marL="0">
              <a:buNone/>
            </a:pPr>
            <a:r>
              <a:rPr lang="en-US" sz="3200" b="1" dirty="0">
                <a:solidFill>
                  <a:schemeClr val="bg1"/>
                </a:solidFill>
              </a:rPr>
              <a:t>Checked before signing, verified on-chain</a:t>
            </a:r>
            <a:endParaRPr lang="en-US" sz="3200" dirty="0"/>
          </a:p>
        </p:txBody>
      </p:sp>
      <p:sp>
        <p:nvSpPr>
          <p:cNvPr id="4" name="Step card 1"/>
          <p:cNvSpPr/>
          <p:nvPr/>
        </p:nvSpPr>
        <p:spPr>
          <a:xfrm>
            <a:off x="548640" y="1508760"/>
            <a:ext cx="1828800" cy="2377440"/>
          </a:xfrm>
          <a:prstGeom prst="roundRect">
            <a:avLst>
              <a:gd name="adj" fmla="val 4000"/>
            </a:avLst>
          </a:prstGeom>
          <a:solidFill>
            <a:schemeClr val="tx2"/>
          </a:solidFill>
          <a:ln w="9525">
            <a:solidFill>
              <a:schemeClr val="accent5"/>
            </a:solidFill>
            <a:prstDash val="solid"/>
          </a:ln>
        </p:spPr>
      </p:sp>
      <p:sp>
        <p:nvSpPr>
          <p:cNvPr id="5" name="Step marker 1"/>
          <p:cNvSpPr/>
          <p:nvPr/>
        </p:nvSpPr>
        <p:spPr>
          <a:xfrm>
            <a:off x="731520" y="1691640"/>
            <a:ext cx="512064" cy="443447"/>
          </a:xfrm>
          <a:prstGeom prst="hexagon">
            <a:avLst/>
          </a:prstGeom>
          <a:solidFill>
            <a:schemeClr val="accent1"/>
          </a:solidFill>
          <a:ln/>
        </p:spPr>
      </p:sp>
      <p:sp>
        <p:nvSpPr>
          <p:cNvPr id="6" name="Step number 1"/>
          <p:cNvSpPr txBox="1"/>
          <p:nvPr/>
        </p:nvSpPr>
        <p:spPr>
          <a:xfrm>
            <a:off x="731520" y="1691640"/>
            <a:ext cx="512064" cy="443484"/>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Step title 1"/>
          <p:cNvSpPr txBox="1"/>
          <p:nvPr/>
        </p:nvSpPr>
        <p:spPr>
          <a:xfrm>
            <a:off x="731520" y="2377440"/>
            <a:ext cx="1508760" cy="502920"/>
          </a:xfrm>
          <a:prstGeom prst="rect">
            <a:avLst/>
          </a:prstGeom>
          <a:noFill/>
          <a:ln/>
        </p:spPr>
        <p:txBody>
          <a:bodyPr wrap="square" lIns="0" tIns="0" rIns="0" bIns="0" rtlCol="0" anchor="t"/>
          <a:lstStyle/>
          <a:p>
            <a:pPr indent="0" marL="0">
              <a:buNone/>
            </a:pPr>
            <a:r>
              <a:rPr lang="en-US" sz="1600" b="1" dirty="0">
                <a:solidFill>
                  <a:schemeClr val="bg1"/>
                </a:solidFill>
              </a:rPr>
              <a:t>Agent asks to pay</a:t>
            </a:r>
            <a:endParaRPr lang="en-US" sz="1600" dirty="0"/>
          </a:p>
        </p:txBody>
      </p:sp>
      <p:sp>
        <p:nvSpPr>
          <p:cNvPr id="8" name="Step body 1"/>
          <p:cNvSpPr txBox="1"/>
          <p:nvPr/>
        </p:nvSpPr>
        <p:spPr>
          <a:xfrm>
            <a:off x="731520" y="2907792"/>
            <a:ext cx="1508760" cy="1005840"/>
          </a:xfrm>
          <a:prstGeom prst="rect">
            <a:avLst/>
          </a:prstGeom>
          <a:noFill/>
          <a:ln/>
        </p:spPr>
        <p:txBody>
          <a:bodyPr wrap="square" lIns="0" tIns="0" rIns="0" bIns="0" rtlCol="0" anchor="t"/>
          <a:lstStyle/>
          <a:p>
            <a:pPr indent="0" marL="0">
              <a:buNone/>
            </a:pPr>
            <a:r>
              <a:rPr lang="en-US" sz="1400" dirty="0">
                <a:solidFill>
                  <a:schemeClr val="bg2"/>
                </a:solidFill>
              </a:rPr>
              <a:t>The agent calls a paid API through the Nectrae SDK.</a:t>
            </a:r>
            <a:endParaRPr lang="en-US" sz="1400" dirty="0"/>
          </a:p>
        </p:txBody>
      </p:sp>
      <p:pic>
        <p:nvPicPr>
          <p:cNvPr id="9" name="Step arrow 1" descr="preencoded.png">    </p:cNvPr>
          <p:cNvPicPr>
            <a:picLocks noChangeAspect="1"/>
          </p:cNvPicPr>
          <p:nvPr/>
        </p:nvPicPr>
        <p:blipFill>
          <a:blip r:embed="rId1"/>
          <a:stretch>
            <a:fillRect/>
          </a:stretch>
        </p:blipFill>
        <p:spPr>
          <a:xfrm>
            <a:off x="2414016" y="2651760"/>
            <a:ext cx="173736" cy="173736"/>
          </a:xfrm>
          <a:prstGeom prst="rect">
            <a:avLst/>
          </a:prstGeom>
        </p:spPr>
      </p:pic>
      <p:sp>
        <p:nvSpPr>
          <p:cNvPr id="10" name="Step card 2"/>
          <p:cNvSpPr/>
          <p:nvPr/>
        </p:nvSpPr>
        <p:spPr>
          <a:xfrm>
            <a:off x="2624328" y="1508760"/>
            <a:ext cx="1828800" cy="2377440"/>
          </a:xfrm>
          <a:prstGeom prst="roundRect">
            <a:avLst>
              <a:gd name="adj" fmla="val 4000"/>
            </a:avLst>
          </a:prstGeom>
          <a:solidFill>
            <a:schemeClr val="tx2"/>
          </a:solidFill>
          <a:ln w="9525">
            <a:solidFill>
              <a:schemeClr val="accent5"/>
            </a:solidFill>
            <a:prstDash val="solid"/>
          </a:ln>
        </p:spPr>
      </p:sp>
      <p:sp>
        <p:nvSpPr>
          <p:cNvPr id="11" name="Step marker 2"/>
          <p:cNvSpPr/>
          <p:nvPr/>
        </p:nvSpPr>
        <p:spPr>
          <a:xfrm>
            <a:off x="2807208" y="1691640"/>
            <a:ext cx="512064" cy="443447"/>
          </a:xfrm>
          <a:prstGeom prst="hexagon">
            <a:avLst/>
          </a:prstGeom>
          <a:solidFill>
            <a:schemeClr val="accent1"/>
          </a:solidFill>
          <a:ln/>
        </p:spPr>
      </p:sp>
      <p:sp>
        <p:nvSpPr>
          <p:cNvPr id="12" name="Step number 2"/>
          <p:cNvSpPr txBox="1"/>
          <p:nvPr/>
        </p:nvSpPr>
        <p:spPr>
          <a:xfrm>
            <a:off x="2807208" y="1691640"/>
            <a:ext cx="512064" cy="443484"/>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3" name="Step title 2"/>
          <p:cNvSpPr txBox="1"/>
          <p:nvPr/>
        </p:nvSpPr>
        <p:spPr>
          <a:xfrm>
            <a:off x="2807208" y="2377440"/>
            <a:ext cx="1508760" cy="502920"/>
          </a:xfrm>
          <a:prstGeom prst="rect">
            <a:avLst/>
          </a:prstGeom>
          <a:noFill/>
          <a:ln/>
        </p:spPr>
        <p:txBody>
          <a:bodyPr wrap="square" lIns="0" tIns="0" rIns="0" bIns="0" rtlCol="0" anchor="t"/>
          <a:lstStyle/>
          <a:p>
            <a:pPr indent="0" marL="0">
              <a:buNone/>
            </a:pPr>
            <a:r>
              <a:rPr lang="en-US" sz="1600" b="1" dirty="0">
                <a:solidFill>
                  <a:schemeClr val="bg1"/>
                </a:solidFill>
              </a:rPr>
              <a:t>Rules are checked</a:t>
            </a:r>
            <a:endParaRPr lang="en-US" sz="1600" dirty="0"/>
          </a:p>
        </p:txBody>
      </p:sp>
      <p:sp>
        <p:nvSpPr>
          <p:cNvPr id="14" name="Step body 2"/>
          <p:cNvSpPr txBox="1"/>
          <p:nvPr/>
        </p:nvSpPr>
        <p:spPr>
          <a:xfrm>
            <a:off x="2807208" y="2907792"/>
            <a:ext cx="1508760" cy="1005840"/>
          </a:xfrm>
          <a:prstGeom prst="rect">
            <a:avLst/>
          </a:prstGeom>
          <a:noFill/>
          <a:ln/>
        </p:spPr>
        <p:txBody>
          <a:bodyPr wrap="square" lIns="0" tIns="0" rIns="0" bIns="0" rtlCol="0" anchor="t"/>
          <a:lstStyle/>
          <a:p>
            <a:pPr indent="0" marL="0">
              <a:buNone/>
            </a:pPr>
            <a:r>
              <a:rPr lang="en-US" sz="1400" dirty="0">
                <a:solidFill>
                  <a:schemeClr val="bg2"/>
                </a:solidFill>
              </a:rPr>
              <a:t>Budget, per-call limit and recipient, before signing.</a:t>
            </a:r>
            <a:endParaRPr lang="en-US" sz="1400" dirty="0"/>
          </a:p>
        </p:txBody>
      </p:sp>
      <p:pic>
        <p:nvPicPr>
          <p:cNvPr id="15" name="Step arrow 2" descr="preencoded.png">    </p:cNvPr>
          <p:cNvPicPr>
            <a:picLocks noChangeAspect="1"/>
          </p:cNvPicPr>
          <p:nvPr/>
        </p:nvPicPr>
        <p:blipFill>
          <a:blip r:embed="rId2"/>
          <a:stretch>
            <a:fillRect/>
          </a:stretch>
        </p:blipFill>
        <p:spPr>
          <a:xfrm>
            <a:off x="4489704" y="2651760"/>
            <a:ext cx="173736" cy="173736"/>
          </a:xfrm>
          <a:prstGeom prst="rect">
            <a:avLst/>
          </a:prstGeom>
        </p:spPr>
      </p:pic>
      <p:sp>
        <p:nvSpPr>
          <p:cNvPr id="16" name="Step card 3"/>
          <p:cNvSpPr/>
          <p:nvPr/>
        </p:nvSpPr>
        <p:spPr>
          <a:xfrm>
            <a:off x="4700016" y="1508760"/>
            <a:ext cx="1828800" cy="2377440"/>
          </a:xfrm>
          <a:prstGeom prst="roundRect">
            <a:avLst>
              <a:gd name="adj" fmla="val 4000"/>
            </a:avLst>
          </a:prstGeom>
          <a:solidFill>
            <a:schemeClr val="tx2"/>
          </a:solidFill>
          <a:ln w="9525">
            <a:solidFill>
              <a:schemeClr val="accent5"/>
            </a:solidFill>
            <a:prstDash val="solid"/>
          </a:ln>
        </p:spPr>
      </p:sp>
      <p:sp>
        <p:nvSpPr>
          <p:cNvPr id="17" name="Step marker 3"/>
          <p:cNvSpPr/>
          <p:nvPr/>
        </p:nvSpPr>
        <p:spPr>
          <a:xfrm>
            <a:off x="4882896" y="1691640"/>
            <a:ext cx="512064" cy="443447"/>
          </a:xfrm>
          <a:prstGeom prst="hexagon">
            <a:avLst/>
          </a:prstGeom>
          <a:solidFill>
            <a:schemeClr val="accent1"/>
          </a:solidFill>
          <a:ln/>
        </p:spPr>
      </p:sp>
      <p:sp>
        <p:nvSpPr>
          <p:cNvPr id="18" name="Step number 3"/>
          <p:cNvSpPr txBox="1"/>
          <p:nvPr/>
        </p:nvSpPr>
        <p:spPr>
          <a:xfrm>
            <a:off x="4882896" y="1691640"/>
            <a:ext cx="512064" cy="443484"/>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9" name="Step title 3"/>
          <p:cNvSpPr txBox="1"/>
          <p:nvPr/>
        </p:nvSpPr>
        <p:spPr>
          <a:xfrm>
            <a:off x="4882896" y="2377440"/>
            <a:ext cx="1508760" cy="502920"/>
          </a:xfrm>
          <a:prstGeom prst="rect">
            <a:avLst/>
          </a:prstGeom>
          <a:noFill/>
          <a:ln/>
        </p:spPr>
        <p:txBody>
          <a:bodyPr wrap="square" lIns="0" tIns="0" rIns="0" bIns="0" rtlCol="0" anchor="t"/>
          <a:lstStyle/>
          <a:p>
            <a:pPr indent="0" marL="0">
              <a:buNone/>
            </a:pPr>
            <a:r>
              <a:rPr lang="en-US" sz="1600" b="1" dirty="0">
                <a:solidFill>
                  <a:schemeClr val="bg1"/>
                </a:solidFill>
              </a:rPr>
              <a:t>Your wallet signs</a:t>
            </a:r>
            <a:endParaRPr lang="en-US" sz="1600" dirty="0"/>
          </a:p>
        </p:txBody>
      </p:sp>
      <p:sp>
        <p:nvSpPr>
          <p:cNvPr id="20" name="Step body 3"/>
          <p:cNvSpPr txBox="1"/>
          <p:nvPr/>
        </p:nvSpPr>
        <p:spPr>
          <a:xfrm>
            <a:off x="4882896" y="2907792"/>
            <a:ext cx="1508760" cy="1005840"/>
          </a:xfrm>
          <a:prstGeom prst="rect">
            <a:avLst/>
          </a:prstGeom>
          <a:noFill/>
          <a:ln/>
        </p:spPr>
        <p:txBody>
          <a:bodyPr wrap="square" lIns="0" tIns="0" rIns="0" bIns="0" rtlCol="0" anchor="t"/>
          <a:lstStyle/>
          <a:p>
            <a:pPr indent="0" marL="0">
              <a:buNone/>
            </a:pPr>
            <a:r>
              <a:rPr lang="en-US" sz="1400" dirty="0">
                <a:solidFill>
                  <a:schemeClr val="bg2"/>
                </a:solidFill>
              </a:rPr>
              <a:t>Signing happens outside Nectrae, with your keys.</a:t>
            </a:r>
            <a:endParaRPr lang="en-US" sz="1400" dirty="0"/>
          </a:p>
        </p:txBody>
      </p:sp>
      <p:pic>
        <p:nvPicPr>
          <p:cNvPr id="21" name="Step arrow 3" descr="preencoded.png">    </p:cNvPr>
          <p:cNvPicPr>
            <a:picLocks noChangeAspect="1"/>
          </p:cNvPicPr>
          <p:nvPr/>
        </p:nvPicPr>
        <p:blipFill>
          <a:blip r:embed="rId3"/>
          <a:stretch>
            <a:fillRect/>
          </a:stretch>
        </p:blipFill>
        <p:spPr>
          <a:xfrm>
            <a:off x="6565392" y="2651760"/>
            <a:ext cx="173736" cy="173736"/>
          </a:xfrm>
          <a:prstGeom prst="rect">
            <a:avLst/>
          </a:prstGeom>
        </p:spPr>
      </p:pic>
      <p:sp>
        <p:nvSpPr>
          <p:cNvPr id="22" name="Step card 4"/>
          <p:cNvSpPr/>
          <p:nvPr/>
        </p:nvSpPr>
        <p:spPr>
          <a:xfrm>
            <a:off x="6775704" y="1508760"/>
            <a:ext cx="1828800" cy="2377440"/>
          </a:xfrm>
          <a:prstGeom prst="roundRect">
            <a:avLst>
              <a:gd name="adj" fmla="val 4000"/>
            </a:avLst>
          </a:prstGeom>
          <a:solidFill>
            <a:schemeClr val="tx2"/>
          </a:solidFill>
          <a:ln w="9525">
            <a:solidFill>
              <a:schemeClr val="accent5"/>
            </a:solidFill>
            <a:prstDash val="solid"/>
          </a:ln>
        </p:spPr>
      </p:sp>
      <p:sp>
        <p:nvSpPr>
          <p:cNvPr id="23" name="Step marker 4"/>
          <p:cNvSpPr/>
          <p:nvPr/>
        </p:nvSpPr>
        <p:spPr>
          <a:xfrm>
            <a:off x="6958584" y="1691640"/>
            <a:ext cx="512064" cy="443447"/>
          </a:xfrm>
          <a:prstGeom prst="hexagon">
            <a:avLst/>
          </a:prstGeom>
          <a:solidFill>
            <a:schemeClr val="accent1"/>
          </a:solidFill>
          <a:ln/>
        </p:spPr>
      </p:sp>
      <p:sp>
        <p:nvSpPr>
          <p:cNvPr id="24" name="Step number 4"/>
          <p:cNvSpPr txBox="1"/>
          <p:nvPr/>
        </p:nvSpPr>
        <p:spPr>
          <a:xfrm>
            <a:off x="6958584" y="1691640"/>
            <a:ext cx="512064" cy="443484"/>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5" name="Step title 4"/>
          <p:cNvSpPr txBox="1"/>
          <p:nvPr/>
        </p:nvSpPr>
        <p:spPr>
          <a:xfrm>
            <a:off x="6958584" y="2377440"/>
            <a:ext cx="1508760" cy="502920"/>
          </a:xfrm>
          <a:prstGeom prst="rect">
            <a:avLst/>
          </a:prstGeom>
          <a:noFill/>
          <a:ln/>
        </p:spPr>
        <p:txBody>
          <a:bodyPr wrap="square" lIns="0" tIns="0" rIns="0" bIns="0" rtlCol="0" anchor="t"/>
          <a:lstStyle/>
          <a:p>
            <a:pPr indent="0" marL="0">
              <a:buNone/>
            </a:pPr>
            <a:r>
              <a:rPr lang="en-US" sz="1600" b="1" dirty="0">
                <a:solidFill>
                  <a:schemeClr val="bg1"/>
                </a:solidFill>
              </a:rPr>
              <a:t>Verified on-chain</a:t>
            </a:r>
            <a:endParaRPr lang="en-US" sz="1600" dirty="0"/>
          </a:p>
        </p:txBody>
      </p:sp>
      <p:sp>
        <p:nvSpPr>
          <p:cNvPr id="26" name="Step body 4"/>
          <p:cNvSpPr txBox="1"/>
          <p:nvPr/>
        </p:nvSpPr>
        <p:spPr>
          <a:xfrm>
            <a:off x="6958584" y="2907792"/>
            <a:ext cx="1508760" cy="1005840"/>
          </a:xfrm>
          <a:prstGeom prst="rect">
            <a:avLst/>
          </a:prstGeom>
          <a:noFill/>
          <a:ln/>
        </p:spPr>
        <p:txBody>
          <a:bodyPr wrap="square" lIns="0" tIns="0" rIns="0" bIns="0" rtlCol="0" anchor="t"/>
          <a:lstStyle/>
          <a:p>
            <a:pPr indent="0" marL="0">
              <a:buNone/>
            </a:pPr>
            <a:r>
              <a:rPr lang="en-US" sz="1400" dirty="0">
                <a:solidFill>
                  <a:schemeClr val="bg2"/>
                </a:solidFill>
              </a:rPr>
              <a:t>Amount, recipient and status are checked on the network.</a:t>
            </a:r>
            <a:endParaRPr lang="en-US" sz="1400" dirty="0"/>
          </a:p>
        </p:txBody>
      </p:sp>
      <p:sp>
        <p:nvSpPr>
          <p:cNvPr id="27" name="Flow footnote"/>
          <p:cNvSpPr txBox="1"/>
          <p:nvPr/>
        </p:nvSpPr>
        <p:spPr>
          <a:xfrm>
            <a:off x="548640" y="4160520"/>
            <a:ext cx="8046720" cy="320040"/>
          </a:xfrm>
          <a:prstGeom prst="rect">
            <a:avLst/>
          </a:prstGeom>
          <a:noFill/>
          <a:ln/>
        </p:spPr>
        <p:txBody>
          <a:bodyPr wrap="square" lIns="0" tIns="0" rIns="0" bIns="0" rtlCol="0" anchor="t"/>
          <a:lstStyle/>
          <a:p>
            <a:pPr indent="0" marL="0">
              <a:buNone/>
            </a:pPr>
            <a:r>
              <a:rPr lang="en-US" sz="1200" i="1" dirty="0">
                <a:solidFill>
                  <a:schemeClr val="bg2"/>
                </a:solidFill>
              </a:rPr>
              <a:t>Recent wallet outflows that skip the SDK are flagged in the record afterward. They can be flagged, not stopped.</a:t>
            </a:r>
            <a:endParaRPr lang="en-US" sz="1200" dirty="0"/>
          </a:p>
        </p:txBody>
      </p:sp>
      <p:sp>
        <p:nvSpPr>
          <p:cNvPr id="25" name="Slide Number Placeholder 0"/>
          <p:cNvSpPr>
            <a:spLocks noGrp="1"/>
          </p:cNvSpPr>
          <p:nvPr>
            <p:ph type="sldNum" sz="quarter" idx="4294967295"/>
          </p:nvPr>
        </p:nvSpPr>
        <p:spPr>
          <a:xfrm>
            <a:off x="813816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THE PRODUCT</a:t>
            </a:r>
            <a:endParaRPr lang="en-US" sz="1100" dirty="0"/>
          </a:p>
        </p:txBody>
      </p:sp>
      <p:sp>
        <p:nvSpPr>
          <p:cNvPr id="3" name="Text 0"/>
          <p:cNvSpPr/>
          <p:nvPr>
            <p:ph idx="101" type="title" hasCustomPrompt="1"/>
          </p:nvPr>
        </p:nvSpPr>
        <p:spPr>
          <a:xfrm>
            <a:off x="548640" y="603504"/>
            <a:ext cx="8046720" cy="658368"/>
          </a:xfrm>
          <a:prstGeom prst="rect">
            <a:avLst/>
          </a:prstGeom>
          <a:noFill/>
          <a:ln/>
        </p:spPr>
        <p:txBody>
          <a:bodyPr wrap="square" lIns="0" tIns="0" rIns="0" bIns="0" rtlCol="0" anchor="t"/>
          <a:lstStyle/>
          <a:p>
            <a:pPr algn="l" indent="0" marL="0">
              <a:buNone/>
            </a:pPr>
            <a:r>
              <a:rPr lang="en-US" sz="3200" b="1" dirty="0">
                <a:solidFill>
                  <a:schemeClr val="bg1"/>
                </a:solidFill>
              </a:rPr>
              <a:t>Activity, rules and evidence in one place</a:t>
            </a:r>
            <a:endParaRPr lang="en-US" sz="3200" dirty="0"/>
          </a:p>
        </p:txBody>
      </p:sp>
      <p:sp>
        <p:nvSpPr>
          <p:cNvPr id="4" name="Screenshot frame"/>
          <p:cNvSpPr/>
          <p:nvPr/>
        </p:nvSpPr>
        <p:spPr>
          <a:xfrm>
            <a:off x="502920" y="1417320"/>
            <a:ext cx="5029200" cy="3108960"/>
          </a:xfrm>
          <a:prstGeom prst="roundRect">
            <a:avLst>
              <a:gd name="adj" fmla="val 1765"/>
            </a:avLst>
          </a:prstGeom>
          <a:solidFill>
            <a:schemeClr val="tx2"/>
          </a:solidFill>
          <a:ln w="9525">
            <a:solidFill>
              <a:schemeClr val="accent5"/>
            </a:solidFill>
            <a:prstDash val="solid"/>
          </a:ln>
        </p:spPr>
      </p:sp>
      <p:pic>
        <p:nvPicPr>
          <p:cNvPr id="5" name="Nectrae panel screenshot" descr="Nectrae panel with spend per agent, budgets and payment test">    </p:cNvPr>
          <p:cNvPicPr>
            <a:picLocks noChangeAspect="1"/>
          </p:cNvPicPr>
          <p:nvPr/>
        </p:nvPicPr>
        <p:blipFill>
          <a:blip r:embed="rId1"/>
          <a:stretch>
            <a:fillRect/>
          </a:stretch>
        </p:blipFill>
        <p:spPr>
          <a:xfrm>
            <a:off x="548640" y="1463040"/>
            <a:ext cx="4937760" cy="3017520"/>
          </a:xfrm>
          <a:prstGeom prst="rect">
            <a:avLst/>
          </a:prstGeom>
        </p:spPr>
      </p:pic>
      <p:sp>
        <p:nvSpPr>
          <p:cNvPr id="6" name="Callout 1"/>
          <p:cNvSpPr/>
          <p:nvPr/>
        </p:nvSpPr>
        <p:spPr>
          <a:xfrm>
            <a:off x="5760720" y="1463040"/>
            <a:ext cx="512064" cy="443447"/>
          </a:xfrm>
          <a:prstGeom prst="hexagon">
            <a:avLst/>
          </a:prstGeom>
          <a:solidFill>
            <a:schemeClr val="accent1"/>
          </a:solidFill>
          <a:ln/>
        </p:spPr>
      </p:sp>
      <p:pic>
        <p:nvPicPr>
          <p:cNvPr id="7" name="Callout 1 icon" descr="preencoded.png">    </p:cNvPr>
          <p:cNvPicPr>
            <a:picLocks noChangeAspect="1"/>
          </p:cNvPicPr>
          <p:nvPr/>
        </p:nvPicPr>
        <p:blipFill>
          <a:blip r:embed="rId2"/>
          <a:stretch>
            <a:fillRect/>
          </a:stretch>
        </p:blipFill>
        <p:spPr>
          <a:xfrm>
            <a:off x="5909219" y="1577230"/>
            <a:ext cx="215067" cy="215067"/>
          </a:xfrm>
          <a:prstGeom prst="rect">
            <a:avLst/>
          </a:prstGeom>
        </p:spPr>
      </p:pic>
      <p:sp>
        <p:nvSpPr>
          <p:cNvPr id="8" name="Callout 1 title"/>
          <p:cNvSpPr txBox="1"/>
          <p:nvPr/>
        </p:nvSpPr>
        <p:spPr>
          <a:xfrm>
            <a:off x="6473952" y="1444752"/>
            <a:ext cx="2121408" cy="274320"/>
          </a:xfrm>
          <a:prstGeom prst="rect">
            <a:avLst/>
          </a:prstGeom>
          <a:noFill/>
          <a:ln/>
        </p:spPr>
        <p:txBody>
          <a:bodyPr wrap="square" lIns="0" tIns="0" rIns="0" bIns="0" rtlCol="0" anchor="t"/>
          <a:lstStyle/>
          <a:p>
            <a:pPr indent="0" marL="0">
              <a:buNone/>
            </a:pPr>
            <a:r>
              <a:rPr lang="en-US" sz="1600" b="1" dirty="0">
                <a:solidFill>
                  <a:schemeClr val="bg1"/>
                </a:solidFill>
              </a:rPr>
              <a:t>Activity per API</a:t>
            </a:r>
            <a:endParaRPr lang="en-US" sz="1600" dirty="0"/>
          </a:p>
        </p:txBody>
      </p:sp>
      <p:sp>
        <p:nvSpPr>
          <p:cNvPr id="9" name="Callout 1 body"/>
          <p:cNvSpPr txBox="1"/>
          <p:nvPr/>
        </p:nvSpPr>
        <p:spPr>
          <a:xfrm>
            <a:off x="6473952" y="1737360"/>
            <a:ext cx="2121408" cy="457200"/>
          </a:xfrm>
          <a:prstGeom prst="rect">
            <a:avLst/>
          </a:prstGeom>
          <a:noFill/>
          <a:ln/>
        </p:spPr>
        <p:txBody>
          <a:bodyPr wrap="square" lIns="0" tIns="0" rIns="0" bIns="0" rtlCol="0" anchor="t"/>
          <a:lstStyle/>
          <a:p>
            <a:pPr indent="0" marL="0">
              <a:buNone/>
            </a:pPr>
            <a:r>
              <a:rPr lang="en-US" sz="1400" dirty="0">
                <a:solidFill>
                  <a:schemeClr val="bg2"/>
                </a:solidFill>
              </a:rPr>
              <a:t>Spend, limits and blocked calls at a glance.</a:t>
            </a:r>
            <a:endParaRPr lang="en-US" sz="1400" dirty="0"/>
          </a:p>
        </p:txBody>
      </p:sp>
      <p:sp>
        <p:nvSpPr>
          <p:cNvPr id="10" name="Callout 2"/>
          <p:cNvSpPr/>
          <p:nvPr/>
        </p:nvSpPr>
        <p:spPr>
          <a:xfrm>
            <a:off x="5760720" y="2286000"/>
            <a:ext cx="512064" cy="443447"/>
          </a:xfrm>
          <a:prstGeom prst="hexagon">
            <a:avLst/>
          </a:prstGeom>
          <a:solidFill>
            <a:schemeClr val="accent1"/>
          </a:solidFill>
          <a:ln/>
        </p:spPr>
      </p:sp>
      <p:pic>
        <p:nvPicPr>
          <p:cNvPr id="11" name="Callout 2 icon" descr="preencoded.png">    </p:cNvPr>
          <p:cNvPicPr>
            <a:picLocks noChangeAspect="1"/>
          </p:cNvPicPr>
          <p:nvPr/>
        </p:nvPicPr>
        <p:blipFill>
          <a:blip r:embed="rId3"/>
          <a:stretch>
            <a:fillRect/>
          </a:stretch>
        </p:blipFill>
        <p:spPr>
          <a:xfrm>
            <a:off x="5909219" y="2400190"/>
            <a:ext cx="215067" cy="215067"/>
          </a:xfrm>
          <a:prstGeom prst="rect">
            <a:avLst/>
          </a:prstGeom>
        </p:spPr>
      </p:pic>
      <p:sp>
        <p:nvSpPr>
          <p:cNvPr id="12" name="Callout 2 title"/>
          <p:cNvSpPr txBox="1"/>
          <p:nvPr/>
        </p:nvSpPr>
        <p:spPr>
          <a:xfrm>
            <a:off x="6473952" y="2267712"/>
            <a:ext cx="2121408" cy="274320"/>
          </a:xfrm>
          <a:prstGeom prst="rect">
            <a:avLst/>
          </a:prstGeom>
          <a:noFill/>
          <a:ln/>
        </p:spPr>
        <p:txBody>
          <a:bodyPr wrap="square" lIns="0" tIns="0" rIns="0" bIns="0" rtlCol="0" anchor="t"/>
          <a:lstStyle/>
          <a:p>
            <a:pPr indent="0" marL="0">
              <a:buNone/>
            </a:pPr>
            <a:r>
              <a:rPr lang="en-US" sz="1600" b="1" dirty="0">
                <a:solidFill>
                  <a:schemeClr val="bg1"/>
                </a:solidFill>
              </a:rPr>
              <a:t>Rules</a:t>
            </a:r>
            <a:endParaRPr lang="en-US" sz="1600" dirty="0"/>
          </a:p>
        </p:txBody>
      </p:sp>
      <p:sp>
        <p:nvSpPr>
          <p:cNvPr id="13" name="Callout 2 body"/>
          <p:cNvSpPr txBox="1"/>
          <p:nvPr/>
        </p:nvSpPr>
        <p:spPr>
          <a:xfrm>
            <a:off x="6473952" y="2560320"/>
            <a:ext cx="2121408" cy="457200"/>
          </a:xfrm>
          <a:prstGeom prst="rect">
            <a:avLst/>
          </a:prstGeom>
          <a:noFill/>
          <a:ln/>
        </p:spPr>
        <p:txBody>
          <a:bodyPr wrap="square" lIns="0" tIns="0" rIns="0" bIns="0" rtlCol="0" anchor="t"/>
          <a:lstStyle/>
          <a:p>
            <a:pPr indent="0" marL="0">
              <a:buNone/>
            </a:pPr>
            <a:r>
              <a:rPr lang="en-US" sz="1400" dirty="0">
                <a:solidFill>
                  <a:schemeClr val="bg2"/>
                </a:solidFill>
              </a:rPr>
              <a:t>Budget, per-call limit and allowed recipients.</a:t>
            </a:r>
            <a:endParaRPr lang="en-US" sz="1400" dirty="0"/>
          </a:p>
        </p:txBody>
      </p:sp>
      <p:sp>
        <p:nvSpPr>
          <p:cNvPr id="14" name="Callout 3"/>
          <p:cNvSpPr/>
          <p:nvPr/>
        </p:nvSpPr>
        <p:spPr>
          <a:xfrm>
            <a:off x="5760720" y="3108960"/>
            <a:ext cx="512064" cy="443447"/>
          </a:xfrm>
          <a:prstGeom prst="hexagon">
            <a:avLst/>
          </a:prstGeom>
          <a:solidFill>
            <a:schemeClr val="accent1"/>
          </a:solidFill>
          <a:ln/>
        </p:spPr>
      </p:sp>
      <p:pic>
        <p:nvPicPr>
          <p:cNvPr id="15" name="Callout 3 icon" descr="preencoded.png">    </p:cNvPr>
          <p:cNvPicPr>
            <a:picLocks noChangeAspect="1"/>
          </p:cNvPicPr>
          <p:nvPr/>
        </p:nvPicPr>
        <p:blipFill>
          <a:blip r:embed="rId4"/>
          <a:stretch>
            <a:fillRect/>
          </a:stretch>
        </p:blipFill>
        <p:spPr>
          <a:xfrm>
            <a:off x="5909219" y="3223150"/>
            <a:ext cx="215067" cy="215067"/>
          </a:xfrm>
          <a:prstGeom prst="rect">
            <a:avLst/>
          </a:prstGeom>
        </p:spPr>
      </p:pic>
      <p:sp>
        <p:nvSpPr>
          <p:cNvPr id="16" name="Callout 3 title"/>
          <p:cNvSpPr txBox="1"/>
          <p:nvPr/>
        </p:nvSpPr>
        <p:spPr>
          <a:xfrm>
            <a:off x="6473952" y="3090672"/>
            <a:ext cx="2121408" cy="274320"/>
          </a:xfrm>
          <a:prstGeom prst="rect">
            <a:avLst/>
          </a:prstGeom>
          <a:noFill/>
          <a:ln/>
        </p:spPr>
        <p:txBody>
          <a:bodyPr wrap="square" lIns="0" tIns="0" rIns="0" bIns="0" rtlCol="0" anchor="t"/>
          <a:lstStyle/>
          <a:p>
            <a:pPr indent="0" marL="0">
              <a:buNone/>
            </a:pPr>
            <a:r>
              <a:rPr lang="en-US" sz="1600" b="1" dirty="0">
                <a:solidFill>
                  <a:schemeClr val="bg1"/>
                </a:solidFill>
              </a:rPr>
              <a:t>Transaction evidence</a:t>
            </a:r>
            <a:endParaRPr lang="en-US" sz="1600" dirty="0"/>
          </a:p>
        </p:txBody>
      </p:sp>
      <p:sp>
        <p:nvSpPr>
          <p:cNvPr id="17" name="Callout 3 body"/>
          <p:cNvSpPr txBox="1"/>
          <p:nvPr/>
        </p:nvSpPr>
        <p:spPr>
          <a:xfrm>
            <a:off x="6473952" y="3383280"/>
            <a:ext cx="2121408" cy="457200"/>
          </a:xfrm>
          <a:prstGeom prst="rect">
            <a:avLst/>
          </a:prstGeom>
          <a:noFill/>
          <a:ln/>
        </p:spPr>
        <p:txBody>
          <a:bodyPr wrap="square" lIns="0" tIns="0" rIns="0" bIns="0" rtlCol="0" anchor="t"/>
          <a:lstStyle/>
          <a:p>
            <a:pPr indent="0" marL="0">
              <a:buNone/>
            </a:pPr>
            <a:r>
              <a:rPr lang="en-US" sz="1400" dirty="0">
                <a:solidFill>
                  <a:schemeClr val="bg2"/>
                </a:solidFill>
              </a:rPr>
              <a:t>Every attempt in one record, checked on-chain.</a:t>
            </a:r>
            <a:endParaRPr lang="en-US" sz="1400" dirty="0"/>
          </a:p>
        </p:txBody>
      </p:sp>
      <p:sp>
        <p:nvSpPr>
          <p:cNvPr id="18" name="MVP note"/>
          <p:cNvSpPr txBox="1"/>
          <p:nvPr/>
        </p:nvSpPr>
        <p:spPr>
          <a:xfrm>
            <a:off x="5760720" y="4114800"/>
            <a:ext cx="2834640" cy="411480"/>
          </a:xfrm>
          <a:prstGeom prst="rect">
            <a:avLst/>
          </a:prstGeom>
          <a:noFill/>
          <a:ln/>
        </p:spPr>
        <p:txBody>
          <a:bodyPr wrap="square" lIns="0" tIns="0" rIns="0" bIns="0" rtlCol="0" anchor="t"/>
          <a:lstStyle/>
          <a:p>
            <a:pPr indent="0" marL="0">
              <a:buNone/>
            </a:pPr>
            <a:r>
              <a:rPr lang="en-US" sz="1100" dirty="0">
                <a:solidFill>
                  <a:schemeClr val="bg2"/>
                </a:solidFill>
              </a:rPr>
              <a:t>Local MVP on Solana devnet and Base Sepolia, test USDC. Example data.</a:t>
            </a:r>
            <a:endParaRPr lang="en-US" sz="1100" dirty="0"/>
          </a:p>
        </p:txBody>
      </p:sp>
      <p:sp>
        <p:nvSpPr>
          <p:cNvPr id="25" name="Slide Number Placeholder 0"/>
          <p:cNvSpPr>
            <a:spLocks noGrp="1"/>
          </p:cNvSpPr>
          <p:nvPr>
            <p:ph type="sldNum" sz="quarter" idx="4294967295"/>
          </p:nvPr>
        </p:nvSpPr>
        <p:spPr>
          <a:xfrm>
            <a:off x="813816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NON-CUSTODIAL</a:t>
            </a:r>
            <a:endParaRPr lang="en-US" sz="1100" dirty="0"/>
          </a:p>
        </p:txBody>
      </p:sp>
      <p:sp>
        <p:nvSpPr>
          <p:cNvPr id="3" name="Text 0"/>
          <p:cNvSpPr/>
          <p:nvPr>
            <p:ph idx="101" type="title" hasCustomPrompt="1"/>
          </p:nvPr>
        </p:nvSpPr>
        <p:spPr>
          <a:xfrm>
            <a:off x="548640" y="603504"/>
            <a:ext cx="8046720" cy="658368"/>
          </a:xfrm>
          <a:prstGeom prst="rect">
            <a:avLst/>
          </a:prstGeom>
          <a:noFill/>
          <a:ln/>
        </p:spPr>
        <p:txBody>
          <a:bodyPr wrap="square" lIns="0" tIns="0" rIns="0" bIns="0" rtlCol="0" anchor="t"/>
          <a:lstStyle/>
          <a:p>
            <a:pPr algn="l" indent="0" marL="0">
              <a:buNone/>
            </a:pPr>
            <a:r>
              <a:rPr lang="en-US" sz="3200" b="1" dirty="0">
                <a:solidFill>
                  <a:schemeClr val="bg1"/>
                </a:solidFill>
              </a:rPr>
              <a:t>Funds and keys stay in your own hive</a:t>
            </a:r>
            <a:endParaRPr lang="en-US" sz="3200" dirty="0"/>
          </a:p>
        </p:txBody>
      </p:sp>
      <p:sp>
        <p:nvSpPr>
          <p:cNvPr id="4" name="Hive hexagon"/>
          <p:cNvSpPr/>
          <p:nvPr/>
        </p:nvSpPr>
        <p:spPr>
          <a:xfrm>
            <a:off x="822960" y="1600200"/>
            <a:ext cx="2926080" cy="2533985"/>
          </a:xfrm>
          <a:prstGeom prst="hexagon">
            <a:avLst/>
          </a:prstGeom>
          <a:solidFill>
            <a:schemeClr val="accent6"/>
          </a:solidFill>
          <a:ln w="12700">
            <a:solidFill>
              <a:schemeClr val="accent1"/>
            </a:solidFill>
            <a:prstDash val="solid"/>
          </a:ln>
        </p:spPr>
      </p:sp>
      <p:pic>
        <p:nvPicPr>
          <p:cNvPr id="5" name="Shield icon" descr="preencoded.png">    </p:cNvPr>
          <p:cNvPicPr>
            <a:picLocks noChangeAspect="1"/>
          </p:cNvPicPr>
          <p:nvPr/>
        </p:nvPicPr>
        <p:blipFill>
          <a:blip r:embed="rId1"/>
          <a:stretch>
            <a:fillRect/>
          </a:stretch>
        </p:blipFill>
        <p:spPr>
          <a:xfrm>
            <a:off x="1691640" y="2267712"/>
            <a:ext cx="1188720" cy="1188720"/>
          </a:xfrm>
          <a:prstGeom prst="rect">
            <a:avLst/>
          </a:prstGeom>
        </p:spPr>
      </p:pic>
      <p:sp>
        <p:nvSpPr>
          <p:cNvPr id="6" name="Custody 1"/>
          <p:cNvSpPr/>
          <p:nvPr/>
        </p:nvSpPr>
        <p:spPr>
          <a:xfrm>
            <a:off x="4389120" y="1600200"/>
            <a:ext cx="512064" cy="443447"/>
          </a:xfrm>
          <a:prstGeom prst="hexagon">
            <a:avLst/>
          </a:prstGeom>
          <a:solidFill>
            <a:schemeClr val="accent1"/>
          </a:solidFill>
          <a:ln/>
        </p:spPr>
      </p:sp>
      <p:pic>
        <p:nvPicPr>
          <p:cNvPr id="7" name="Custody 1 icon" descr="preencoded.png">    </p:cNvPr>
          <p:cNvPicPr>
            <a:picLocks noChangeAspect="1"/>
          </p:cNvPicPr>
          <p:nvPr/>
        </p:nvPicPr>
        <p:blipFill>
          <a:blip r:embed="rId2"/>
          <a:stretch>
            <a:fillRect/>
          </a:stretch>
        </p:blipFill>
        <p:spPr>
          <a:xfrm>
            <a:off x="4537619" y="1714390"/>
            <a:ext cx="215067" cy="215067"/>
          </a:xfrm>
          <a:prstGeom prst="rect">
            <a:avLst/>
          </a:prstGeom>
        </p:spPr>
      </p:pic>
      <p:sp>
        <p:nvSpPr>
          <p:cNvPr id="8" name="Custody 1 title"/>
          <p:cNvSpPr txBox="1"/>
          <p:nvPr/>
        </p:nvSpPr>
        <p:spPr>
          <a:xfrm>
            <a:off x="5102352" y="1581912"/>
            <a:ext cx="3493008" cy="274320"/>
          </a:xfrm>
          <a:prstGeom prst="rect">
            <a:avLst/>
          </a:prstGeom>
          <a:noFill/>
          <a:ln/>
        </p:spPr>
        <p:txBody>
          <a:bodyPr wrap="square" lIns="0" tIns="0" rIns="0" bIns="0" rtlCol="0" anchor="t"/>
          <a:lstStyle/>
          <a:p>
            <a:pPr indent="0" marL="0">
              <a:buNone/>
            </a:pPr>
            <a:r>
              <a:rPr lang="en-US" sz="1600" b="1" dirty="0">
                <a:solidFill>
                  <a:schemeClr val="bg1"/>
                </a:solidFill>
              </a:rPr>
              <a:t>Your keys, your funds</a:t>
            </a:r>
            <a:endParaRPr lang="en-US" sz="1600" dirty="0"/>
          </a:p>
        </p:txBody>
      </p:sp>
      <p:sp>
        <p:nvSpPr>
          <p:cNvPr id="9" name="Custody 1 body"/>
          <p:cNvSpPr txBox="1"/>
          <p:nvPr/>
        </p:nvSpPr>
        <p:spPr>
          <a:xfrm>
            <a:off x="5102352" y="1874520"/>
            <a:ext cx="3493008" cy="457200"/>
          </a:xfrm>
          <a:prstGeom prst="rect">
            <a:avLst/>
          </a:prstGeom>
          <a:noFill/>
          <a:ln/>
        </p:spPr>
        <p:txBody>
          <a:bodyPr wrap="square" lIns="0" tIns="0" rIns="0" bIns="0" rtlCol="0" anchor="t"/>
          <a:lstStyle/>
          <a:p>
            <a:pPr indent="0" marL="0">
              <a:buNone/>
            </a:pPr>
            <a:r>
              <a:rPr lang="en-US" sz="1400" dirty="0">
                <a:solidFill>
                  <a:schemeClr val="bg2"/>
                </a:solidFill>
              </a:rPr>
              <a:t>Funds and private keys stay with you. Nectrae never holds them.</a:t>
            </a:r>
            <a:endParaRPr lang="en-US" sz="1400" dirty="0"/>
          </a:p>
        </p:txBody>
      </p:sp>
      <p:sp>
        <p:nvSpPr>
          <p:cNvPr id="10" name="Custody 2"/>
          <p:cNvSpPr/>
          <p:nvPr/>
        </p:nvSpPr>
        <p:spPr>
          <a:xfrm>
            <a:off x="4389120" y="2560320"/>
            <a:ext cx="512064" cy="443447"/>
          </a:xfrm>
          <a:prstGeom prst="hexagon">
            <a:avLst/>
          </a:prstGeom>
          <a:solidFill>
            <a:schemeClr val="accent1"/>
          </a:solidFill>
          <a:ln/>
        </p:spPr>
      </p:sp>
      <p:pic>
        <p:nvPicPr>
          <p:cNvPr id="11" name="Custody 2 icon" descr="preencoded.png">    </p:cNvPr>
          <p:cNvPicPr>
            <a:picLocks noChangeAspect="1"/>
          </p:cNvPicPr>
          <p:nvPr/>
        </p:nvPicPr>
        <p:blipFill>
          <a:blip r:embed="rId3"/>
          <a:stretch>
            <a:fillRect/>
          </a:stretch>
        </p:blipFill>
        <p:spPr>
          <a:xfrm>
            <a:off x="4537619" y="2674510"/>
            <a:ext cx="215067" cy="215067"/>
          </a:xfrm>
          <a:prstGeom prst="rect">
            <a:avLst/>
          </a:prstGeom>
        </p:spPr>
      </p:pic>
      <p:sp>
        <p:nvSpPr>
          <p:cNvPr id="12" name="Custody 2 title"/>
          <p:cNvSpPr txBox="1"/>
          <p:nvPr/>
        </p:nvSpPr>
        <p:spPr>
          <a:xfrm>
            <a:off x="5102352" y="2542032"/>
            <a:ext cx="3493008" cy="274320"/>
          </a:xfrm>
          <a:prstGeom prst="rect">
            <a:avLst/>
          </a:prstGeom>
          <a:noFill/>
          <a:ln/>
        </p:spPr>
        <p:txBody>
          <a:bodyPr wrap="square" lIns="0" tIns="0" rIns="0" bIns="0" rtlCol="0" anchor="t"/>
          <a:lstStyle/>
          <a:p>
            <a:pPr indent="0" marL="0">
              <a:buNone/>
            </a:pPr>
            <a:r>
              <a:rPr lang="en-US" sz="1600" b="1" dirty="0">
                <a:solidFill>
                  <a:schemeClr val="bg1"/>
                </a:solidFill>
              </a:rPr>
              <a:t>Your wallet signs</a:t>
            </a:r>
            <a:endParaRPr lang="en-US" sz="1600" dirty="0"/>
          </a:p>
        </p:txBody>
      </p:sp>
      <p:sp>
        <p:nvSpPr>
          <p:cNvPr id="13" name="Custody 2 body"/>
          <p:cNvSpPr txBox="1"/>
          <p:nvPr/>
        </p:nvSpPr>
        <p:spPr>
          <a:xfrm>
            <a:off x="5102352" y="2834640"/>
            <a:ext cx="3493008" cy="457200"/>
          </a:xfrm>
          <a:prstGeom prst="rect">
            <a:avLst/>
          </a:prstGeom>
          <a:noFill/>
          <a:ln/>
        </p:spPr>
        <p:txBody>
          <a:bodyPr wrap="square" lIns="0" tIns="0" rIns="0" bIns="0" rtlCol="0" anchor="t"/>
          <a:lstStyle/>
          <a:p>
            <a:pPr indent="0" marL="0">
              <a:buNone/>
            </a:pPr>
            <a:r>
              <a:rPr lang="en-US" sz="1400" dirty="0">
                <a:solidFill>
                  <a:schemeClr val="bg2"/>
                </a:solidFill>
              </a:rPr>
              <a:t>Signing happens outside Nectrae.</a:t>
            </a:r>
            <a:endParaRPr lang="en-US" sz="1400" dirty="0"/>
          </a:p>
        </p:txBody>
      </p:sp>
      <p:sp>
        <p:nvSpPr>
          <p:cNvPr id="14" name="Custody 3"/>
          <p:cNvSpPr/>
          <p:nvPr/>
        </p:nvSpPr>
        <p:spPr>
          <a:xfrm>
            <a:off x="4389120" y="3520440"/>
            <a:ext cx="512064" cy="443447"/>
          </a:xfrm>
          <a:prstGeom prst="hexagon">
            <a:avLst/>
          </a:prstGeom>
          <a:solidFill>
            <a:schemeClr val="accent1"/>
          </a:solidFill>
          <a:ln/>
        </p:spPr>
      </p:sp>
      <p:pic>
        <p:nvPicPr>
          <p:cNvPr id="15" name="Custody 3 icon" descr="preencoded.png">    </p:cNvPr>
          <p:cNvPicPr>
            <a:picLocks noChangeAspect="1"/>
          </p:cNvPicPr>
          <p:nvPr/>
        </p:nvPicPr>
        <p:blipFill>
          <a:blip r:embed="rId4"/>
          <a:stretch>
            <a:fillRect/>
          </a:stretch>
        </p:blipFill>
        <p:spPr>
          <a:xfrm>
            <a:off x="4537619" y="3634630"/>
            <a:ext cx="215067" cy="215067"/>
          </a:xfrm>
          <a:prstGeom prst="rect">
            <a:avLst/>
          </a:prstGeom>
        </p:spPr>
      </p:pic>
      <p:sp>
        <p:nvSpPr>
          <p:cNvPr id="16" name="Custody 3 title"/>
          <p:cNvSpPr txBox="1"/>
          <p:nvPr/>
        </p:nvSpPr>
        <p:spPr>
          <a:xfrm>
            <a:off x="5102352" y="3502152"/>
            <a:ext cx="3493008" cy="274320"/>
          </a:xfrm>
          <a:prstGeom prst="rect">
            <a:avLst/>
          </a:prstGeom>
          <a:noFill/>
          <a:ln/>
        </p:spPr>
        <p:txBody>
          <a:bodyPr wrap="square" lIns="0" tIns="0" rIns="0" bIns="0" rtlCol="0" anchor="t"/>
          <a:lstStyle/>
          <a:p>
            <a:pPr indent="0" marL="0">
              <a:buNone/>
            </a:pPr>
            <a:r>
              <a:rPr lang="en-US" sz="1600" b="1" dirty="0">
                <a:solidFill>
                  <a:schemeClr val="bg1"/>
                </a:solidFill>
              </a:rPr>
              <a:t>You set the boundaries</a:t>
            </a:r>
            <a:endParaRPr lang="en-US" sz="1600" dirty="0"/>
          </a:p>
        </p:txBody>
      </p:sp>
      <p:sp>
        <p:nvSpPr>
          <p:cNvPr id="17" name="Custody 3 body"/>
          <p:cNvSpPr txBox="1"/>
          <p:nvPr/>
        </p:nvSpPr>
        <p:spPr>
          <a:xfrm>
            <a:off x="5102352" y="3794760"/>
            <a:ext cx="3493008" cy="457200"/>
          </a:xfrm>
          <a:prstGeom prst="rect">
            <a:avLst/>
          </a:prstGeom>
          <a:noFill/>
          <a:ln/>
        </p:spPr>
        <p:txBody>
          <a:bodyPr wrap="square" lIns="0" tIns="0" rIns="0" bIns="0" rtlCol="0" anchor="t"/>
          <a:lstStyle/>
          <a:p>
            <a:pPr indent="0" marL="0">
              <a:buNone/>
            </a:pPr>
            <a:r>
              <a:rPr lang="en-US" sz="1400" dirty="0">
                <a:solidFill>
                  <a:schemeClr val="bg2"/>
                </a:solidFill>
              </a:rPr>
              <a:t>Your agent checks them before paying through the integration.</a:t>
            </a:r>
            <a:endParaRPr lang="en-US" sz="1400" dirty="0"/>
          </a:p>
        </p:txBody>
      </p:sp>
      <p:sp>
        <p:nvSpPr>
          <p:cNvPr id="25" name="Slide Number Placeholder 0"/>
          <p:cNvSpPr>
            <a:spLocks noGrp="1"/>
          </p:cNvSpPr>
          <p:nvPr>
            <p:ph type="sldNum" sz="quarter" idx="4294967295"/>
          </p:nvPr>
        </p:nvSpPr>
        <p:spPr>
          <a:xfrm>
            <a:off x="813816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GO-TO-MARKET</a:t>
            </a:r>
            <a:endParaRPr lang="en-US" sz="1100" dirty="0"/>
          </a:p>
        </p:txBody>
      </p:sp>
      <p:sp>
        <p:nvSpPr>
          <p:cNvPr id="3" name="Text 0"/>
          <p:cNvSpPr/>
          <p:nvPr>
            <p:ph idx="101" type="title" hasCustomPrompt="1"/>
          </p:nvPr>
        </p:nvSpPr>
        <p:spPr>
          <a:xfrm>
            <a:off x="548640" y="603504"/>
            <a:ext cx="8046720" cy="658368"/>
          </a:xfrm>
          <a:prstGeom prst="rect">
            <a:avLst/>
          </a:prstGeom>
          <a:noFill/>
          <a:ln/>
        </p:spPr>
        <p:txBody>
          <a:bodyPr wrap="square" lIns="0" tIns="0" rIns="0" bIns="0" rtlCol="0" anchor="t"/>
          <a:lstStyle/>
          <a:p>
            <a:pPr algn="l" indent="0" marL="0">
              <a:buNone/>
            </a:pPr>
            <a:r>
              <a:rPr lang="en-US" sz="3200" b="1" dirty="0">
                <a:solidFill>
                  <a:schemeClr val="bg1"/>
                </a:solidFill>
              </a:rPr>
              <a:t>A developer-first route to customers</a:t>
            </a:r>
            <a:endParaRPr lang="en-US" sz="3200" dirty="0"/>
          </a:p>
        </p:txBody>
      </p:sp>
      <p:sp>
        <p:nvSpPr>
          <p:cNvPr id="4" name="GTM 1"/>
          <p:cNvSpPr/>
          <p:nvPr/>
        </p:nvSpPr>
        <p:spPr>
          <a:xfrm>
            <a:off x="548640" y="1554480"/>
            <a:ext cx="512064" cy="443447"/>
          </a:xfrm>
          <a:prstGeom prst="hexagon">
            <a:avLst/>
          </a:prstGeom>
          <a:solidFill>
            <a:schemeClr val="accent1"/>
          </a:solidFill>
          <a:ln/>
        </p:spPr>
      </p:sp>
      <p:pic>
        <p:nvPicPr>
          <p:cNvPr id="5" name="GTM 1 icon" descr="preencoded.png">    </p:cNvPr>
          <p:cNvPicPr>
            <a:picLocks noChangeAspect="1"/>
          </p:cNvPicPr>
          <p:nvPr/>
        </p:nvPicPr>
        <p:blipFill>
          <a:blip r:embed="rId1"/>
          <a:stretch>
            <a:fillRect/>
          </a:stretch>
        </p:blipFill>
        <p:spPr>
          <a:xfrm>
            <a:off x="697139" y="1668670"/>
            <a:ext cx="215067" cy="215067"/>
          </a:xfrm>
          <a:prstGeom prst="rect">
            <a:avLst/>
          </a:prstGeom>
        </p:spPr>
      </p:pic>
      <p:sp>
        <p:nvSpPr>
          <p:cNvPr id="6" name="GTM 1 title"/>
          <p:cNvSpPr txBox="1"/>
          <p:nvPr/>
        </p:nvSpPr>
        <p:spPr>
          <a:xfrm>
            <a:off x="1261872" y="1536192"/>
            <a:ext cx="3310128" cy="274320"/>
          </a:xfrm>
          <a:prstGeom prst="rect">
            <a:avLst/>
          </a:prstGeom>
          <a:noFill/>
          <a:ln/>
        </p:spPr>
        <p:txBody>
          <a:bodyPr wrap="square" lIns="0" tIns="0" rIns="0" bIns="0" rtlCol="0" anchor="t"/>
          <a:lstStyle/>
          <a:p>
            <a:pPr indent="0" marL="0">
              <a:buNone/>
            </a:pPr>
            <a:r>
              <a:rPr lang="en-US" sz="1600" b="1" dirty="0">
                <a:solidFill>
                  <a:schemeClr val="bg1"/>
                </a:solidFill>
              </a:rPr>
              <a:t>Developer communities</a:t>
            </a:r>
            <a:endParaRPr lang="en-US" sz="1600" dirty="0"/>
          </a:p>
        </p:txBody>
      </p:sp>
      <p:sp>
        <p:nvSpPr>
          <p:cNvPr id="7" name="GTM 1 body"/>
          <p:cNvSpPr txBox="1"/>
          <p:nvPr/>
        </p:nvSpPr>
        <p:spPr>
          <a:xfrm>
            <a:off x="1261872" y="1828800"/>
            <a:ext cx="3310128" cy="457200"/>
          </a:xfrm>
          <a:prstGeom prst="rect">
            <a:avLst/>
          </a:prstGeom>
          <a:noFill/>
          <a:ln/>
        </p:spPr>
        <p:txBody>
          <a:bodyPr wrap="square" lIns="0" tIns="0" rIns="0" bIns="0" rtlCol="0" anchor="t"/>
          <a:lstStyle/>
          <a:p>
            <a:pPr indent="0" marL="0">
              <a:buNone/>
            </a:pPr>
            <a:r>
              <a:rPr lang="en-US" sz="1400" dirty="0">
                <a:solidFill>
                  <a:schemeClr val="bg2"/>
                </a:solidFill>
              </a:rPr>
              <a:t>Reach teams building paid agent workflows.</a:t>
            </a:r>
            <a:endParaRPr lang="en-US" sz="1400" dirty="0"/>
          </a:p>
        </p:txBody>
      </p:sp>
      <p:sp>
        <p:nvSpPr>
          <p:cNvPr id="8" name="GTM 2"/>
          <p:cNvSpPr/>
          <p:nvPr/>
        </p:nvSpPr>
        <p:spPr>
          <a:xfrm>
            <a:off x="548640" y="2514600"/>
            <a:ext cx="512064" cy="443447"/>
          </a:xfrm>
          <a:prstGeom prst="hexagon">
            <a:avLst/>
          </a:prstGeom>
          <a:solidFill>
            <a:schemeClr val="accent1"/>
          </a:solidFill>
          <a:ln/>
        </p:spPr>
      </p:sp>
      <p:pic>
        <p:nvPicPr>
          <p:cNvPr id="9" name="GTM 2 icon" descr="preencoded.png">    </p:cNvPr>
          <p:cNvPicPr>
            <a:picLocks noChangeAspect="1"/>
          </p:cNvPicPr>
          <p:nvPr/>
        </p:nvPicPr>
        <p:blipFill>
          <a:blip r:embed="rId2"/>
          <a:stretch>
            <a:fillRect/>
          </a:stretch>
        </p:blipFill>
        <p:spPr>
          <a:xfrm>
            <a:off x="697139" y="2628790"/>
            <a:ext cx="215067" cy="215067"/>
          </a:xfrm>
          <a:prstGeom prst="rect">
            <a:avLst/>
          </a:prstGeom>
        </p:spPr>
      </p:pic>
      <p:sp>
        <p:nvSpPr>
          <p:cNvPr id="10" name="GTM 2 title"/>
          <p:cNvSpPr txBox="1"/>
          <p:nvPr/>
        </p:nvSpPr>
        <p:spPr>
          <a:xfrm>
            <a:off x="1261872" y="2496312"/>
            <a:ext cx="3310128" cy="274320"/>
          </a:xfrm>
          <a:prstGeom prst="rect">
            <a:avLst/>
          </a:prstGeom>
          <a:noFill/>
          <a:ln/>
        </p:spPr>
        <p:txBody>
          <a:bodyPr wrap="square" lIns="0" tIns="0" rIns="0" bIns="0" rtlCol="0" anchor="t"/>
          <a:lstStyle/>
          <a:p>
            <a:pPr indent="0" marL="0">
              <a:buNone/>
            </a:pPr>
            <a:r>
              <a:rPr lang="en-US" sz="1600" b="1" dirty="0">
                <a:solidFill>
                  <a:schemeClr val="bg1"/>
                </a:solidFill>
              </a:rPr>
              <a:t>SDK examples on GitHub</a:t>
            </a:r>
            <a:endParaRPr lang="en-US" sz="1600" dirty="0"/>
          </a:p>
        </p:txBody>
      </p:sp>
      <p:sp>
        <p:nvSpPr>
          <p:cNvPr id="11" name="GTM 2 body"/>
          <p:cNvSpPr txBox="1"/>
          <p:nvPr/>
        </p:nvSpPr>
        <p:spPr>
          <a:xfrm>
            <a:off x="1261872" y="2788920"/>
            <a:ext cx="3310128" cy="457200"/>
          </a:xfrm>
          <a:prstGeom prst="rect">
            <a:avLst/>
          </a:prstGeom>
          <a:noFill/>
          <a:ln/>
        </p:spPr>
        <p:txBody>
          <a:bodyPr wrap="square" lIns="0" tIns="0" rIns="0" bIns="0" rtlCol="0" anchor="t"/>
          <a:lstStyle/>
          <a:p>
            <a:pPr indent="0" marL="0">
              <a:buNone/>
            </a:pPr>
            <a:r>
              <a:rPr lang="en-US" sz="1400" dirty="0">
                <a:solidFill>
                  <a:schemeClr val="bg2"/>
                </a:solidFill>
              </a:rPr>
              <a:t>Ready-to-run integrations developers can copy.</a:t>
            </a:r>
            <a:endParaRPr lang="en-US" sz="1400" dirty="0"/>
          </a:p>
        </p:txBody>
      </p:sp>
      <p:sp>
        <p:nvSpPr>
          <p:cNvPr id="12" name="GTM 3"/>
          <p:cNvSpPr/>
          <p:nvPr/>
        </p:nvSpPr>
        <p:spPr>
          <a:xfrm>
            <a:off x="548640" y="3474720"/>
            <a:ext cx="512064" cy="443447"/>
          </a:xfrm>
          <a:prstGeom prst="hexagon">
            <a:avLst/>
          </a:prstGeom>
          <a:solidFill>
            <a:schemeClr val="accent1"/>
          </a:solidFill>
          <a:ln/>
        </p:spPr>
      </p:sp>
      <p:pic>
        <p:nvPicPr>
          <p:cNvPr id="13" name="GTM 3 icon" descr="preencoded.png">    </p:cNvPr>
          <p:cNvPicPr>
            <a:picLocks noChangeAspect="1"/>
          </p:cNvPicPr>
          <p:nvPr/>
        </p:nvPicPr>
        <p:blipFill>
          <a:blip r:embed="rId3"/>
          <a:stretch>
            <a:fillRect/>
          </a:stretch>
        </p:blipFill>
        <p:spPr>
          <a:xfrm>
            <a:off x="697139" y="3588910"/>
            <a:ext cx="215067" cy="215067"/>
          </a:xfrm>
          <a:prstGeom prst="rect">
            <a:avLst/>
          </a:prstGeom>
        </p:spPr>
      </p:pic>
      <p:sp>
        <p:nvSpPr>
          <p:cNvPr id="14" name="GTM 3 title"/>
          <p:cNvSpPr txBox="1"/>
          <p:nvPr/>
        </p:nvSpPr>
        <p:spPr>
          <a:xfrm>
            <a:off x="1261872" y="3456432"/>
            <a:ext cx="3310128" cy="274320"/>
          </a:xfrm>
          <a:prstGeom prst="rect">
            <a:avLst/>
          </a:prstGeom>
          <a:noFill/>
          <a:ln/>
        </p:spPr>
        <p:txBody>
          <a:bodyPr wrap="square" lIns="0" tIns="0" rIns="0" bIns="0" rtlCol="0" anchor="t"/>
          <a:lstStyle/>
          <a:p>
            <a:pPr indent="0" marL="0">
              <a:buNone/>
            </a:pPr>
            <a:r>
              <a:rPr lang="en-US" sz="1600" b="1" dirty="0">
                <a:solidFill>
                  <a:schemeClr val="bg1"/>
                </a:solidFill>
              </a:rPr>
              <a:t>Assisted integrations</a:t>
            </a:r>
            <a:endParaRPr lang="en-US" sz="1600" dirty="0"/>
          </a:p>
        </p:txBody>
      </p:sp>
      <p:sp>
        <p:nvSpPr>
          <p:cNvPr id="15" name="GTM 3 body"/>
          <p:cNvSpPr txBox="1"/>
          <p:nvPr/>
        </p:nvSpPr>
        <p:spPr>
          <a:xfrm>
            <a:off x="1261872" y="3749040"/>
            <a:ext cx="3310128" cy="457200"/>
          </a:xfrm>
          <a:prstGeom prst="rect">
            <a:avLst/>
          </a:prstGeom>
          <a:noFill/>
          <a:ln/>
        </p:spPr>
        <p:txBody>
          <a:bodyPr wrap="square" lIns="0" tIns="0" rIns="0" bIns="0" rtlCol="0" anchor="t"/>
          <a:lstStyle/>
          <a:p>
            <a:pPr indent="0" marL="0">
              <a:buNone/>
            </a:pPr>
            <a:r>
              <a:rPr lang="en-US" sz="1400" dirty="0">
                <a:solidFill>
                  <a:schemeClr val="bg2"/>
                </a:solidFill>
              </a:rPr>
              <a:t>Hands-on setup with paid API workflows.</a:t>
            </a:r>
            <a:endParaRPr lang="en-US" sz="1400" dirty="0"/>
          </a:p>
        </p:txBody>
      </p:sp>
      <p:sp>
        <p:nvSpPr>
          <p:cNvPr id="16" name="Business model card"/>
          <p:cNvSpPr/>
          <p:nvPr/>
        </p:nvSpPr>
        <p:spPr>
          <a:xfrm>
            <a:off x="4937760" y="1463040"/>
            <a:ext cx="3657600" cy="3017520"/>
          </a:xfrm>
          <a:prstGeom prst="roundRect">
            <a:avLst>
              <a:gd name="adj" fmla="val 2424"/>
            </a:avLst>
          </a:prstGeom>
          <a:solidFill>
            <a:schemeClr val="tx2"/>
          </a:solidFill>
          <a:ln w="9525">
            <a:solidFill>
              <a:schemeClr val="accent5"/>
            </a:solidFill>
            <a:prstDash val="solid"/>
          </a:ln>
        </p:spPr>
      </p:sp>
      <p:sp>
        <p:nvSpPr>
          <p:cNvPr id="17" name="Model kicker"/>
          <p:cNvSpPr txBox="1"/>
          <p:nvPr/>
        </p:nvSpPr>
        <p:spPr>
          <a:xfrm>
            <a:off x="5212080" y="1691640"/>
            <a:ext cx="310896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BUSINESS MODEL</a:t>
            </a:r>
            <a:endParaRPr lang="en-US" sz="1100" dirty="0"/>
          </a:p>
        </p:txBody>
      </p:sp>
      <p:sp>
        <p:nvSpPr>
          <p:cNvPr id="18" name="Model icon"/>
          <p:cNvSpPr/>
          <p:nvPr/>
        </p:nvSpPr>
        <p:spPr>
          <a:xfrm>
            <a:off x="5212080" y="2103120"/>
            <a:ext cx="512064" cy="443447"/>
          </a:xfrm>
          <a:prstGeom prst="hexagon">
            <a:avLst/>
          </a:prstGeom>
          <a:solidFill>
            <a:schemeClr val="accent1"/>
          </a:solidFill>
          <a:ln/>
        </p:spPr>
      </p:sp>
      <p:pic>
        <p:nvPicPr>
          <p:cNvPr id="19" name="Model icon icon" descr="preencoded.png">    </p:cNvPr>
          <p:cNvPicPr>
            <a:picLocks noChangeAspect="1"/>
          </p:cNvPicPr>
          <p:nvPr/>
        </p:nvPicPr>
        <p:blipFill>
          <a:blip r:embed="rId4"/>
          <a:stretch>
            <a:fillRect/>
          </a:stretch>
        </p:blipFill>
        <p:spPr>
          <a:xfrm>
            <a:off x="5360579" y="2217310"/>
            <a:ext cx="215067" cy="215067"/>
          </a:xfrm>
          <a:prstGeom prst="rect">
            <a:avLst/>
          </a:prstGeom>
        </p:spPr>
      </p:pic>
      <p:sp>
        <p:nvSpPr>
          <p:cNvPr id="20" name="Model title"/>
          <p:cNvSpPr txBox="1"/>
          <p:nvPr/>
        </p:nvSpPr>
        <p:spPr>
          <a:xfrm>
            <a:off x="5897880" y="2139696"/>
            <a:ext cx="2560320" cy="41148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Team subscriptions</a:t>
            </a:r>
            <a:endParaRPr lang="en-US" sz="2200" dirty="0"/>
          </a:p>
        </p:txBody>
      </p:sp>
      <p:sp>
        <p:nvSpPr>
          <p:cNvPr id="21" name="Model body"/>
          <p:cNvSpPr txBox="1"/>
          <p:nvPr/>
        </p:nvSpPr>
        <p:spPr>
          <a:xfrm>
            <a:off x="5212080" y="2834640"/>
            <a:ext cx="3154680" cy="731520"/>
          </a:xfrm>
          <a:prstGeom prst="rect">
            <a:avLst/>
          </a:prstGeom>
          <a:noFill/>
          <a:ln/>
        </p:spPr>
        <p:txBody>
          <a:bodyPr wrap="square" lIns="0" tIns="0" rIns="0" bIns="0" rtlCol="0" anchor="t"/>
          <a:lstStyle/>
          <a:p>
            <a:pPr indent="0" marL="0">
              <a:buNone/>
            </a:pPr>
            <a:r>
              <a:rPr lang="en-US" sz="1400" dirty="0">
                <a:solidFill>
                  <a:schemeClr val="bg1"/>
                </a:solidFill>
              </a:rPr>
              <a:t>Shared controls and spending records for teams running paid agent workflows.</a:t>
            </a:r>
            <a:endParaRPr lang="en-US" sz="1400" dirty="0"/>
          </a:p>
        </p:txBody>
      </p:sp>
      <p:sp>
        <p:nvSpPr>
          <p:cNvPr id="22" name="Model caveat"/>
          <p:cNvSpPr txBox="1"/>
          <p:nvPr/>
        </p:nvSpPr>
        <p:spPr>
          <a:xfrm>
            <a:off x="5212080" y="3977640"/>
            <a:ext cx="3154680" cy="274320"/>
          </a:xfrm>
          <a:prstGeom prst="rect">
            <a:avLst/>
          </a:prstGeom>
          <a:noFill/>
          <a:ln/>
        </p:spPr>
        <p:txBody>
          <a:bodyPr wrap="square" lIns="0" tIns="0" rIns="0" bIns="0" rtlCol="0" anchor="t"/>
          <a:lstStyle/>
          <a:p>
            <a:pPr indent="0" marL="0">
              <a:buNone/>
            </a:pPr>
            <a:r>
              <a:rPr lang="en-US" sz="1100" i="1" dirty="0">
                <a:solidFill>
                  <a:schemeClr val="bg2"/>
                </a:solidFill>
              </a:rPr>
              <a:t>Planned commercial strategy, not current revenue.</a:t>
            </a:r>
            <a:endParaRPr lang="en-US" sz="1100" dirty="0"/>
          </a:p>
        </p:txBody>
      </p:sp>
      <p:sp>
        <p:nvSpPr>
          <p:cNvPr id="25" name="Slide Number Placeholder 0"/>
          <p:cNvSpPr>
            <a:spLocks noGrp="1"/>
          </p:cNvSpPr>
          <p:nvPr>
            <p:ph type="sldNum" sz="quarter" idx="4294967295"/>
          </p:nvPr>
        </p:nvSpPr>
        <p:spPr>
          <a:xfrm>
            <a:off x="813816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THE HIVE</a:t>
            </a:r>
            <a:endParaRPr lang="en-US" sz="1100" dirty="0"/>
          </a:p>
        </p:txBody>
      </p:sp>
      <p:sp>
        <p:nvSpPr>
          <p:cNvPr id="3" name="Text 0"/>
          <p:cNvSpPr/>
          <p:nvPr>
            <p:ph idx="101" type="title" hasCustomPrompt="1"/>
          </p:nvPr>
        </p:nvSpPr>
        <p:spPr>
          <a:xfrm>
            <a:off x="548640" y="603504"/>
            <a:ext cx="8046720" cy="658368"/>
          </a:xfrm>
          <a:prstGeom prst="rect">
            <a:avLst/>
          </a:prstGeom>
          <a:noFill/>
          <a:ln/>
        </p:spPr>
        <p:txBody>
          <a:bodyPr wrap="square" lIns="0" tIns="0" rIns="0" bIns="0" rtlCol="0" anchor="t"/>
          <a:lstStyle/>
          <a:p>
            <a:pPr algn="l" indent="0" marL="0">
              <a:buNone/>
            </a:pPr>
            <a:r>
              <a:rPr lang="en-US" sz="3200" b="1" dirty="0">
                <a:solidFill>
                  <a:schemeClr val="bg1"/>
                </a:solidFill>
              </a:rPr>
              <a:t>Team</a:t>
            </a:r>
            <a:endParaRPr lang="en-US" sz="3200" dirty="0"/>
          </a:p>
        </p:txBody>
      </p:sp>
      <p:sp>
        <p:nvSpPr>
          <p:cNvPr id="4" name="Team card 1"/>
          <p:cNvSpPr/>
          <p:nvPr/>
        </p:nvSpPr>
        <p:spPr>
          <a:xfrm>
            <a:off x="548640" y="1463040"/>
            <a:ext cx="2560320" cy="2926080"/>
          </a:xfrm>
          <a:prstGeom prst="roundRect">
            <a:avLst>
              <a:gd name="adj" fmla="val 2857"/>
            </a:avLst>
          </a:prstGeom>
          <a:solidFill>
            <a:schemeClr val="tx2"/>
          </a:solidFill>
          <a:ln w="9525">
            <a:solidFill>
              <a:schemeClr val="accent5"/>
            </a:solidFill>
            <a:prstDash val="solid"/>
          </a:ln>
        </p:spPr>
      </p:sp>
      <p:sp>
        <p:nvSpPr>
          <p:cNvPr id="5" name="Team avatar 1"/>
          <p:cNvSpPr/>
          <p:nvPr/>
        </p:nvSpPr>
        <p:spPr>
          <a:xfrm>
            <a:off x="1371600" y="1691640"/>
            <a:ext cx="914400" cy="791870"/>
          </a:xfrm>
          <a:prstGeom prst="hexagon">
            <a:avLst/>
          </a:prstGeom>
          <a:solidFill>
            <a:schemeClr val="accent6"/>
          </a:solidFill>
          <a:ln w="12700">
            <a:solidFill>
              <a:schemeClr val="accent1"/>
            </a:solidFill>
            <a:prstDash val="solid"/>
          </a:ln>
        </p:spPr>
      </p:sp>
      <p:pic>
        <p:nvPicPr>
          <p:cNvPr id="6" name="Team avatar icon 1" descr="preencoded.png">    </p:cNvPr>
          <p:cNvPicPr>
            <a:picLocks noChangeAspect="1"/>
          </p:cNvPicPr>
          <p:nvPr/>
        </p:nvPicPr>
        <p:blipFill>
          <a:blip r:embed="rId1"/>
          <a:stretch>
            <a:fillRect/>
          </a:stretch>
        </p:blipFill>
        <p:spPr>
          <a:xfrm>
            <a:off x="1600200" y="1856232"/>
            <a:ext cx="457200" cy="457200"/>
          </a:xfrm>
          <a:prstGeom prst="rect">
            <a:avLst/>
          </a:prstGeom>
        </p:spPr>
      </p:pic>
      <p:sp>
        <p:nvSpPr>
          <p:cNvPr id="7" name="Team name 1"/>
          <p:cNvSpPr txBox="1"/>
          <p:nvPr/>
        </p:nvSpPr>
        <p:spPr>
          <a:xfrm>
            <a:off x="731520" y="2697480"/>
            <a:ext cx="2194560" cy="365760"/>
          </a:xfrm>
          <a:prstGeom prst="rect">
            <a:avLst/>
          </a:prstGeom>
          <a:noFill/>
          <a:ln/>
        </p:spPr>
        <p:txBody>
          <a:bodyPr wrap="square" lIns="0" tIns="0" rIns="0" bIns="0" rtlCol="0" anchor="t"/>
          <a:lstStyle/>
          <a:p>
            <a:pPr algn="ctr" indent="0" marL="0">
              <a:buNone/>
            </a:pPr>
            <a:r>
              <a:rPr lang="en-US" sz="1800" b="1" dirty="0">
                <a:solidFill>
                  <a:schemeClr val="bg1"/>
                </a:solidFill>
              </a:rPr>
              <a:t>[Name]</a:t>
            </a:r>
            <a:endParaRPr lang="en-US" sz="1800" dirty="0"/>
          </a:p>
        </p:txBody>
      </p:sp>
      <p:sp>
        <p:nvSpPr>
          <p:cNvPr id="8" name="Team role 1"/>
          <p:cNvSpPr txBox="1"/>
          <p:nvPr/>
        </p:nvSpPr>
        <p:spPr>
          <a:xfrm>
            <a:off x="731520" y="3090672"/>
            <a:ext cx="2194560" cy="274320"/>
          </a:xfrm>
          <a:prstGeom prst="rect">
            <a:avLst/>
          </a:prstGeom>
          <a:noFill/>
          <a:ln/>
        </p:spPr>
        <p:txBody>
          <a:bodyPr wrap="square" lIns="0" tIns="0" rIns="0" bIns="0" rtlCol="0" anchor="t"/>
          <a:lstStyle/>
          <a:p>
            <a:pPr algn="ctr" indent="0" marL="0">
              <a:buNone/>
            </a:pPr>
            <a:r>
              <a:rPr lang="en-US" sz="1400" dirty="0">
                <a:solidFill>
                  <a:schemeClr val="accent1"/>
                </a:solidFill>
              </a:rPr>
              <a:t>[Role]</a:t>
            </a:r>
            <a:endParaRPr lang="en-US" sz="1400" dirty="0"/>
          </a:p>
        </p:txBody>
      </p:sp>
      <p:sp>
        <p:nvSpPr>
          <p:cNvPr id="9" name="Team background 1"/>
          <p:cNvSpPr txBox="1"/>
          <p:nvPr/>
        </p:nvSpPr>
        <p:spPr>
          <a:xfrm>
            <a:off x="777240" y="3474720"/>
            <a:ext cx="2103120" cy="640080"/>
          </a:xfrm>
          <a:prstGeom prst="rect">
            <a:avLst/>
          </a:prstGeom>
          <a:noFill/>
          <a:ln/>
        </p:spPr>
        <p:txBody>
          <a:bodyPr wrap="square" lIns="0" tIns="0" rIns="0" bIns="0" rtlCol="0" anchor="t"/>
          <a:lstStyle/>
          <a:p>
            <a:pPr algn="ctr" indent="0" marL="0">
              <a:buNone/>
            </a:pPr>
            <a:r>
              <a:rPr lang="en-US" sz="1200" dirty="0">
                <a:solidFill>
                  <a:schemeClr val="bg2"/>
                </a:solidFill>
              </a:rPr>
              <a:t>[Background and relevant experience]</a:t>
            </a:r>
            <a:endParaRPr lang="en-US" sz="1200" dirty="0"/>
          </a:p>
        </p:txBody>
      </p:sp>
      <p:sp>
        <p:nvSpPr>
          <p:cNvPr id="10" name="Team card 2"/>
          <p:cNvSpPr/>
          <p:nvPr/>
        </p:nvSpPr>
        <p:spPr>
          <a:xfrm>
            <a:off x="3291840" y="1463040"/>
            <a:ext cx="2560320" cy="2926080"/>
          </a:xfrm>
          <a:prstGeom prst="roundRect">
            <a:avLst>
              <a:gd name="adj" fmla="val 2857"/>
            </a:avLst>
          </a:prstGeom>
          <a:solidFill>
            <a:schemeClr val="tx2"/>
          </a:solidFill>
          <a:ln w="9525">
            <a:solidFill>
              <a:schemeClr val="accent5"/>
            </a:solidFill>
            <a:prstDash val="solid"/>
          </a:ln>
        </p:spPr>
      </p:sp>
      <p:sp>
        <p:nvSpPr>
          <p:cNvPr id="11" name="Team avatar 2"/>
          <p:cNvSpPr/>
          <p:nvPr/>
        </p:nvSpPr>
        <p:spPr>
          <a:xfrm>
            <a:off x="4114800" y="1691640"/>
            <a:ext cx="914400" cy="791870"/>
          </a:xfrm>
          <a:prstGeom prst="hexagon">
            <a:avLst/>
          </a:prstGeom>
          <a:solidFill>
            <a:schemeClr val="accent6"/>
          </a:solidFill>
          <a:ln w="12700">
            <a:solidFill>
              <a:schemeClr val="accent1"/>
            </a:solidFill>
            <a:prstDash val="solid"/>
          </a:ln>
        </p:spPr>
      </p:sp>
      <p:pic>
        <p:nvPicPr>
          <p:cNvPr id="12" name="Team avatar icon 2" descr="preencoded.png">    </p:cNvPr>
          <p:cNvPicPr>
            <a:picLocks noChangeAspect="1"/>
          </p:cNvPicPr>
          <p:nvPr/>
        </p:nvPicPr>
        <p:blipFill>
          <a:blip r:embed="rId2"/>
          <a:stretch>
            <a:fillRect/>
          </a:stretch>
        </p:blipFill>
        <p:spPr>
          <a:xfrm>
            <a:off x="4343400" y="1856232"/>
            <a:ext cx="457200" cy="457200"/>
          </a:xfrm>
          <a:prstGeom prst="rect">
            <a:avLst/>
          </a:prstGeom>
        </p:spPr>
      </p:pic>
      <p:sp>
        <p:nvSpPr>
          <p:cNvPr id="13" name="Team name 2"/>
          <p:cNvSpPr txBox="1"/>
          <p:nvPr/>
        </p:nvSpPr>
        <p:spPr>
          <a:xfrm>
            <a:off x="3474720" y="2697480"/>
            <a:ext cx="2194560" cy="365760"/>
          </a:xfrm>
          <a:prstGeom prst="rect">
            <a:avLst/>
          </a:prstGeom>
          <a:noFill/>
          <a:ln/>
        </p:spPr>
        <p:txBody>
          <a:bodyPr wrap="square" lIns="0" tIns="0" rIns="0" bIns="0" rtlCol="0" anchor="t"/>
          <a:lstStyle/>
          <a:p>
            <a:pPr algn="ctr" indent="0" marL="0">
              <a:buNone/>
            </a:pPr>
            <a:r>
              <a:rPr lang="en-US" sz="1800" b="1" dirty="0">
                <a:solidFill>
                  <a:schemeClr val="bg1"/>
                </a:solidFill>
              </a:rPr>
              <a:t>[Name]</a:t>
            </a:r>
            <a:endParaRPr lang="en-US" sz="1800" dirty="0"/>
          </a:p>
        </p:txBody>
      </p:sp>
      <p:sp>
        <p:nvSpPr>
          <p:cNvPr id="14" name="Team role 2"/>
          <p:cNvSpPr txBox="1"/>
          <p:nvPr/>
        </p:nvSpPr>
        <p:spPr>
          <a:xfrm>
            <a:off x="3474720" y="3090672"/>
            <a:ext cx="2194560" cy="274320"/>
          </a:xfrm>
          <a:prstGeom prst="rect">
            <a:avLst/>
          </a:prstGeom>
          <a:noFill/>
          <a:ln/>
        </p:spPr>
        <p:txBody>
          <a:bodyPr wrap="square" lIns="0" tIns="0" rIns="0" bIns="0" rtlCol="0" anchor="t"/>
          <a:lstStyle/>
          <a:p>
            <a:pPr algn="ctr" indent="0" marL="0">
              <a:buNone/>
            </a:pPr>
            <a:r>
              <a:rPr lang="en-US" sz="1400" dirty="0">
                <a:solidFill>
                  <a:schemeClr val="accent1"/>
                </a:solidFill>
              </a:rPr>
              <a:t>[Role]</a:t>
            </a:r>
            <a:endParaRPr lang="en-US" sz="1400" dirty="0"/>
          </a:p>
        </p:txBody>
      </p:sp>
      <p:sp>
        <p:nvSpPr>
          <p:cNvPr id="15" name="Team background 2"/>
          <p:cNvSpPr txBox="1"/>
          <p:nvPr/>
        </p:nvSpPr>
        <p:spPr>
          <a:xfrm>
            <a:off x="3520440" y="3474720"/>
            <a:ext cx="2103120" cy="640080"/>
          </a:xfrm>
          <a:prstGeom prst="rect">
            <a:avLst/>
          </a:prstGeom>
          <a:noFill/>
          <a:ln/>
        </p:spPr>
        <p:txBody>
          <a:bodyPr wrap="square" lIns="0" tIns="0" rIns="0" bIns="0" rtlCol="0" anchor="t"/>
          <a:lstStyle/>
          <a:p>
            <a:pPr algn="ctr" indent="0" marL="0">
              <a:buNone/>
            </a:pPr>
            <a:r>
              <a:rPr lang="en-US" sz="1200" dirty="0">
                <a:solidFill>
                  <a:schemeClr val="bg2"/>
                </a:solidFill>
              </a:rPr>
              <a:t>[Background and relevant experience]</a:t>
            </a:r>
            <a:endParaRPr lang="en-US" sz="1200" dirty="0"/>
          </a:p>
        </p:txBody>
      </p:sp>
      <p:sp>
        <p:nvSpPr>
          <p:cNvPr id="16" name="Team card 3"/>
          <p:cNvSpPr/>
          <p:nvPr/>
        </p:nvSpPr>
        <p:spPr>
          <a:xfrm>
            <a:off x="6035040" y="1463040"/>
            <a:ext cx="2560320" cy="2926080"/>
          </a:xfrm>
          <a:prstGeom prst="roundRect">
            <a:avLst>
              <a:gd name="adj" fmla="val 2857"/>
            </a:avLst>
          </a:prstGeom>
          <a:solidFill>
            <a:schemeClr val="tx2"/>
          </a:solidFill>
          <a:ln w="9525">
            <a:solidFill>
              <a:schemeClr val="accent5"/>
            </a:solidFill>
            <a:prstDash val="solid"/>
          </a:ln>
        </p:spPr>
      </p:sp>
      <p:sp>
        <p:nvSpPr>
          <p:cNvPr id="17" name="Team avatar 3"/>
          <p:cNvSpPr/>
          <p:nvPr/>
        </p:nvSpPr>
        <p:spPr>
          <a:xfrm>
            <a:off x="6858000" y="1691640"/>
            <a:ext cx="914400" cy="791870"/>
          </a:xfrm>
          <a:prstGeom prst="hexagon">
            <a:avLst/>
          </a:prstGeom>
          <a:solidFill>
            <a:schemeClr val="accent6"/>
          </a:solidFill>
          <a:ln w="12700">
            <a:solidFill>
              <a:schemeClr val="accent1"/>
            </a:solidFill>
            <a:prstDash val="solid"/>
          </a:ln>
        </p:spPr>
      </p:sp>
      <p:pic>
        <p:nvPicPr>
          <p:cNvPr id="18" name="Team avatar icon 3" descr="preencoded.png">    </p:cNvPr>
          <p:cNvPicPr>
            <a:picLocks noChangeAspect="1"/>
          </p:cNvPicPr>
          <p:nvPr/>
        </p:nvPicPr>
        <p:blipFill>
          <a:blip r:embed="rId3"/>
          <a:stretch>
            <a:fillRect/>
          </a:stretch>
        </p:blipFill>
        <p:spPr>
          <a:xfrm>
            <a:off x="7086600" y="1856232"/>
            <a:ext cx="457200" cy="457200"/>
          </a:xfrm>
          <a:prstGeom prst="rect">
            <a:avLst/>
          </a:prstGeom>
        </p:spPr>
      </p:pic>
      <p:sp>
        <p:nvSpPr>
          <p:cNvPr id="19" name="Team name 3"/>
          <p:cNvSpPr txBox="1"/>
          <p:nvPr/>
        </p:nvSpPr>
        <p:spPr>
          <a:xfrm>
            <a:off x="6217920" y="2697480"/>
            <a:ext cx="2194560" cy="365760"/>
          </a:xfrm>
          <a:prstGeom prst="rect">
            <a:avLst/>
          </a:prstGeom>
          <a:noFill/>
          <a:ln/>
        </p:spPr>
        <p:txBody>
          <a:bodyPr wrap="square" lIns="0" tIns="0" rIns="0" bIns="0" rtlCol="0" anchor="t"/>
          <a:lstStyle/>
          <a:p>
            <a:pPr algn="ctr" indent="0" marL="0">
              <a:buNone/>
            </a:pPr>
            <a:r>
              <a:rPr lang="en-US" sz="1800" b="1" dirty="0">
                <a:solidFill>
                  <a:schemeClr val="bg1"/>
                </a:solidFill>
              </a:rPr>
              <a:t>[Name]</a:t>
            </a:r>
            <a:endParaRPr lang="en-US" sz="1800" dirty="0"/>
          </a:p>
        </p:txBody>
      </p:sp>
      <p:sp>
        <p:nvSpPr>
          <p:cNvPr id="20" name="Team role 3"/>
          <p:cNvSpPr txBox="1"/>
          <p:nvPr/>
        </p:nvSpPr>
        <p:spPr>
          <a:xfrm>
            <a:off x="6217920" y="3090672"/>
            <a:ext cx="2194560" cy="274320"/>
          </a:xfrm>
          <a:prstGeom prst="rect">
            <a:avLst/>
          </a:prstGeom>
          <a:noFill/>
          <a:ln/>
        </p:spPr>
        <p:txBody>
          <a:bodyPr wrap="square" lIns="0" tIns="0" rIns="0" bIns="0" rtlCol="0" anchor="t"/>
          <a:lstStyle/>
          <a:p>
            <a:pPr algn="ctr" indent="0" marL="0">
              <a:buNone/>
            </a:pPr>
            <a:r>
              <a:rPr lang="en-US" sz="1400" dirty="0">
                <a:solidFill>
                  <a:schemeClr val="accent1"/>
                </a:solidFill>
              </a:rPr>
              <a:t>[Role]</a:t>
            </a:r>
            <a:endParaRPr lang="en-US" sz="1400" dirty="0"/>
          </a:p>
        </p:txBody>
      </p:sp>
      <p:sp>
        <p:nvSpPr>
          <p:cNvPr id="21" name="Team background 3"/>
          <p:cNvSpPr txBox="1"/>
          <p:nvPr/>
        </p:nvSpPr>
        <p:spPr>
          <a:xfrm>
            <a:off x="6263640" y="3474720"/>
            <a:ext cx="2103120" cy="640080"/>
          </a:xfrm>
          <a:prstGeom prst="rect">
            <a:avLst/>
          </a:prstGeom>
          <a:noFill/>
          <a:ln/>
        </p:spPr>
        <p:txBody>
          <a:bodyPr wrap="square" lIns="0" tIns="0" rIns="0" bIns="0" rtlCol="0" anchor="t"/>
          <a:lstStyle/>
          <a:p>
            <a:pPr algn="ctr" indent="0" marL="0">
              <a:buNone/>
            </a:pPr>
            <a:r>
              <a:rPr lang="en-US" sz="1200" dirty="0">
                <a:solidFill>
                  <a:schemeClr val="bg2"/>
                </a:solidFill>
              </a:rPr>
              <a:t>[Background and relevant experience]</a:t>
            </a:r>
            <a:endParaRPr lang="en-US" sz="1200" dirty="0"/>
          </a:p>
        </p:txBody>
      </p:sp>
      <p:sp>
        <p:nvSpPr>
          <p:cNvPr id="25" name="Slide Number Placeholder 0"/>
          <p:cNvSpPr>
            <a:spLocks noGrp="1"/>
          </p:cNvSpPr>
          <p:nvPr>
            <p:ph type="sldNum" sz="quarter" idx="4294967295"/>
          </p:nvPr>
        </p:nvSpPr>
        <p:spPr>
          <a:xfrm>
            <a:off x="813816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Closing logo" descr="/Users/lorenasamuel/Documents/Nectrae/Visual/Logo web/logo-nectrae-claro.png">    </p:cNvPr>
          <p:cNvPicPr>
            <a:picLocks noChangeAspect="1"/>
          </p:cNvPicPr>
          <p:nvPr/>
        </p:nvPicPr>
        <p:blipFill>
          <a:blip r:embed="rId1"/>
          <a:stretch>
            <a:fillRect/>
          </a:stretch>
        </p:blipFill>
        <p:spPr>
          <a:xfrm>
            <a:off x="548640" y="868680"/>
            <a:ext cx="3291840" cy="1053389"/>
          </a:xfrm>
          <a:prstGeom prst="rect">
            <a:avLst/>
          </a:prstGeom>
        </p:spPr>
      </p:pic>
      <p:sp>
        <p:nvSpPr>
          <p:cNvPr id="3" name="Closing line 1"/>
          <p:cNvSpPr txBox="1"/>
          <p:nvPr/>
        </p:nvSpPr>
        <p:spPr>
          <a:xfrm>
            <a:off x="548640" y="2194560"/>
            <a:ext cx="4297680" cy="45720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Let your agents bee autonomous.</a:t>
            </a:r>
            <a:endParaRPr lang="en-US" sz="2400" dirty="0"/>
          </a:p>
        </p:txBody>
      </p:sp>
      <p:sp>
        <p:nvSpPr>
          <p:cNvPr id="4" name="Closing line 2"/>
          <p:cNvSpPr txBox="1"/>
          <p:nvPr/>
        </p:nvSpPr>
        <p:spPr>
          <a:xfrm>
            <a:off x="548640" y="2651760"/>
            <a:ext cx="4297680"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Bee in control.</a:t>
            </a:r>
            <a:endParaRPr lang="en-US" sz="2400" dirty="0"/>
          </a:p>
        </p:txBody>
      </p:sp>
      <p:sp>
        <p:nvSpPr>
          <p:cNvPr id="5" name="Closing links"/>
          <p:cNvSpPr txBox="1"/>
          <p:nvPr/>
        </p:nvSpPr>
        <p:spPr>
          <a:xfrm>
            <a:off x="548640" y="3429000"/>
            <a:ext cx="4297680" cy="640080"/>
          </a:xfrm>
          <a:prstGeom prst="rect">
            <a:avLst/>
          </a:prstGeom>
          <a:noFill/>
          <a:ln/>
        </p:spPr>
        <p:txBody>
          <a:bodyPr wrap="square" lIns="0" tIns="0" rIns="0" bIns="0" rtlCol="0" anchor="t"/>
          <a:lstStyle/>
          <a:p>
            <a:pPr indent="0" marL="0">
              <a:spcAft>
                <a:spcPts val="400"/>
              </a:spcAft>
              <a:buNone/>
            </a:pPr>
            <a:r>
              <a:rPr lang="en-US" sz="1400" b="1" dirty="0">
                <a:solidFill>
                  <a:schemeClr val="bg1"/>
                </a:solidFill>
              </a:rPr>
              <a:t>Demo: </a:t>
            </a:r>
            <a:pPr indent="0" marL="0">
              <a:spcAft>
                <a:spcPts val="400"/>
              </a:spcAft>
              <a:buNone/>
            </a:pPr>
            <a:r>
              <a:rPr lang="en-US" sz="1400" dirty="0">
                <a:solidFill>
                  <a:schemeClr val="bg2"/>
                </a:solidFill>
              </a:rPr>
              <a:t>[demo video link]</a:t>
            </a:r>
            <a:endParaRPr lang="en-US" sz="1400" dirty="0"/>
          </a:p>
          <a:p>
            <a:pPr indent="0" marL="0">
              <a:spcAft>
                <a:spcPts val="400"/>
              </a:spcAft>
              <a:buNone/>
            </a:pPr>
            <a:r>
              <a:rPr lang="en-US" sz="1400" b="1" dirty="0">
                <a:solidFill>
                  <a:schemeClr val="bg1"/>
                </a:solidFill>
              </a:rPr>
              <a:t>GitHub: </a:t>
            </a:r>
            <a:pPr indent="0" marL="0">
              <a:spcAft>
                <a:spcPts val="400"/>
              </a:spcAft>
              <a:buNone/>
            </a:pPr>
            <a:r>
              <a:rPr lang="en-US" sz="1400" dirty="0">
                <a:solidFill>
                  <a:schemeClr val="bg2"/>
                </a:solidFill>
              </a:rPr>
              <a:t>[repository link]</a:t>
            </a:r>
            <a:endParaRPr lang="en-US" sz="1400" dirty="0"/>
          </a:p>
        </p:txBody>
      </p:sp>
      <p:sp>
        <p:nvSpPr>
          <p:cNvPr id="6" name="Next steps card"/>
          <p:cNvSpPr/>
          <p:nvPr/>
        </p:nvSpPr>
        <p:spPr>
          <a:xfrm>
            <a:off x="5120640" y="868680"/>
            <a:ext cx="3474720" cy="2834640"/>
          </a:xfrm>
          <a:prstGeom prst="roundRect">
            <a:avLst>
              <a:gd name="adj" fmla="val 2581"/>
            </a:avLst>
          </a:prstGeom>
          <a:solidFill>
            <a:schemeClr val="tx2"/>
          </a:solidFill>
          <a:ln w="9525">
            <a:solidFill>
              <a:schemeClr val="accent5"/>
            </a:solidFill>
            <a:prstDash val="solid"/>
          </a:ln>
        </p:spPr>
      </p:sp>
      <p:sp>
        <p:nvSpPr>
          <p:cNvPr id="7" name="Next steps title"/>
          <p:cNvSpPr txBox="1"/>
          <p:nvPr/>
        </p:nvSpPr>
        <p:spPr>
          <a:xfrm>
            <a:off x="5394960" y="1097280"/>
            <a:ext cx="2926080" cy="365760"/>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Next steps</a:t>
            </a:r>
            <a:endParaRPr lang="en-US" sz="2000" dirty="0"/>
          </a:p>
        </p:txBody>
      </p:sp>
      <p:sp>
        <p:nvSpPr>
          <p:cNvPr id="8" name="Next steps list"/>
          <p:cNvSpPr txBox="1"/>
          <p:nvPr/>
        </p:nvSpPr>
        <p:spPr>
          <a:xfrm>
            <a:off x="5394960" y="1645920"/>
            <a:ext cx="2971800" cy="18288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2"/>
                </a:solidFill>
              </a:rPr>
              <a:t>[The ask: funding, pilots or partners]</a:t>
            </a:r>
            <a:endParaRPr lang="en-US" sz="1400" dirty="0"/>
          </a:p>
          <a:p>
            <a:pPr marL="342900" indent="-342900">
              <a:spcAft>
                <a:spcPts val="1000"/>
              </a:spcAft>
              <a:buSzPct val="100000"/>
              <a:buChar char="•"/>
            </a:pPr>
            <a:r>
              <a:rPr lang="en-US" sz="1400" dirty="0">
                <a:solidFill>
                  <a:schemeClr val="bg2"/>
                </a:solidFill>
              </a:rPr>
              <a:t>[Milestone 1: e.g. first SDK integrations]</a:t>
            </a:r>
            <a:endParaRPr lang="en-US" sz="1400" dirty="0"/>
          </a:p>
          <a:p>
            <a:pPr marL="342900" indent="-342900">
              <a:spcAft>
                <a:spcPts val="1000"/>
              </a:spcAft>
              <a:buSzPct val="100000"/>
              <a:buChar char="•"/>
            </a:pPr>
            <a:r>
              <a:rPr lang="en-US" sz="1400" dirty="0">
                <a:solidFill>
                  <a:schemeClr val="bg2"/>
                </a:solidFill>
              </a:rPr>
              <a:t>[Milestone 2: e.g. mainnet launch]</a:t>
            </a:r>
            <a:endParaRPr lang="en-US" sz="1400" dirty="0"/>
          </a:p>
          <a:p>
            <a:pPr marL="342900" indent="-342900">
              <a:spcAft>
                <a:spcPts val="1000"/>
              </a:spcAft>
              <a:buSzPct val="100000"/>
              <a:buChar char="•"/>
            </a:pPr>
            <a:r>
              <a:rPr lang="en-US" sz="1400" dirty="0">
                <a:solidFill>
                  <a:schemeClr val="bg2"/>
                </a:solidFill>
              </a:rPr>
              <a:t>[Contact: email or handle]</a:t>
            </a:r>
            <a:endParaRPr lang="en-US" sz="1400" dirty="0"/>
          </a:p>
        </p:txBody>
      </p:sp>
    </p:spTree>
  </p:cSld>
  <p:clrMapOvr>
    <a:masterClrMapping/>
  </p:clrMapOvr>
</p:sld>
</file>

<file path=ppt/theme/theme1.xml><?xml version="1.0" encoding="utf-8"?>
<a:theme xmlns:a="http://schemas.openxmlformats.org/drawingml/2006/main" name="Nectrae">
  <a:themeElements>
    <a:clrScheme name="Nectrae">
      <a:dk1>
        <a:srgbClr val="0F1218"/>
      </a:dk1>
      <a:lt1>
        <a:srgbClr val="E8EBF2"/>
      </a:lt1>
      <a:dk2>
        <a:srgbClr val="1A202B"/>
      </a:dk2>
      <a:lt2>
        <a:srgbClr val="9AA2B3"/>
      </a:lt2>
      <a:accent1>
        <a:srgbClr val="E6B454"/>
      </a:accent1>
      <a:accent2>
        <a:srgbClr val="5CC99A"/>
      </a:accent2>
      <a:accent3>
        <a:srgbClr val="F07D72"/>
      </a:accent3>
      <a:accent4>
        <a:srgbClr val="8C98FF"/>
      </a:accent4>
      <a:accent5>
        <a:srgbClr val="2C3444"/>
      </a:accent5>
      <a:accent6>
        <a:srgbClr val="3A2F14"/>
      </a:accent6>
      <a:hlink>
        <a:srgbClr val="E6B454"/>
      </a:hlink>
      <a:folHlink>
        <a:srgbClr val="D9A857"/>
      </a:folHlink>
    </a:clrScheme>
    <a:fontScheme name="Nectra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Nectrae - Agent Spend Control</dc:title>
  <dc:subject>PptxGenJS Presentation</dc:subject>
  <dc:creator>Nectrae</dc:creator>
  <cp:lastModifiedBy>Nectrae</cp:lastModifiedBy>
  <cp:revision>1</cp:revision>
  <dcterms:created xsi:type="dcterms:W3CDTF">2026-10-12T16:42:44Z</dcterms:created>
  <dcterms:modified xsi:type="dcterms:W3CDTF">2026-10-12T16:42:44Z</dcterms:modified>
</cp:coreProperties>
</file>